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9"/>
  </p:notesMasterIdLst>
  <p:sldIdLst>
    <p:sldId id="282" r:id="rId2"/>
    <p:sldId id="283" r:id="rId3"/>
    <p:sldId id="286" r:id="rId4"/>
    <p:sldId id="288" r:id="rId5"/>
    <p:sldId id="284" r:id="rId6"/>
    <p:sldId id="285" r:id="rId7"/>
    <p:sldId id="287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275"/>
    <a:srgbClr val="853115"/>
    <a:srgbClr val="B9431D"/>
    <a:srgbClr val="A40000"/>
    <a:srgbClr val="AC9872"/>
    <a:srgbClr val="8A372D"/>
    <a:srgbClr val="D86ECC"/>
    <a:srgbClr val="3A4657"/>
    <a:srgbClr val="291D57"/>
    <a:srgbClr val="1D57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4C6B17-86D5-4FE9-8F7D-A529CA14188B}" v="8" dt="2024-09-04T14:31:11.6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Style moyen 1 - Accentuation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660B408-B3CF-4A94-85FC-2B1E0A45F4A2}" styleName="Style foncé 2 - Accentuation 1/Accentuation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5BE263C-DBD7-4A20-BB59-AAB30ACAA65A}" styleName="Style moyen 3 - Accentuation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46F890A9-2807-4EBB-B81D-B2AA78EC7F39}" styleName="Style foncé 2 - Accentuation 5/Accentuation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A488322-F2BA-4B5B-9748-0D474271808F}" styleName="Style moyen 3 - Accentuation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Style moyen 3 - Accentuation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4704C0-3584-49D6-A744-6448A76FDBBA}" type="datetimeFigureOut">
              <a:rPr lang="fr-FR" smtClean="0"/>
              <a:t>26/09/2024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30080B-0C3B-454C-8483-1EE3D642E9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3521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apositive de titre">
    <p:bg>
      <p:bgPr>
        <a:gradFill>
          <a:gsLst>
            <a:gs pos="56000">
              <a:srgbClr val="1D3657"/>
            </a:gs>
            <a:gs pos="100000">
              <a:srgbClr val="8A372D"/>
            </a:gs>
          </a:gsLst>
          <a:lin ang="4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BF44F2-1007-9A7F-9762-CACD6B13FD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9D28AC-C50F-D03D-679D-828878F1DF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34539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4893D5-C5B5-A9EC-DD95-74BDEEE0E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41E9C9-6E61-30D7-0B47-ED1F4ED1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D262295-B738-8768-6878-BD9C28312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AA3F7-AEDE-4C38-B25F-FFE3147892EB}" type="datetime1">
              <a:rPr lang="fr-FR" smtClean="0"/>
              <a:t>26/09/2024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0DECAD8-3DC1-E720-B79F-8B9AA3510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E08AE0-6428-D889-D705-C996F3B90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913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47C193-F2F0-98D5-1568-7B7D5F7B9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6513C90-4374-1389-8671-A802537C10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89ECE74-0A37-EFD0-9DCB-3B91B6F64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03198-BE8C-415D-A13C-F016E9AAF50B}" type="datetime1">
              <a:rPr lang="fr-FR" smtClean="0"/>
              <a:t>26/09/2024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2B9E2A-C331-F806-90C9-F2F0A22AF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9F906F-BD6B-321A-9C5A-F56F58699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52280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4C6527-4322-82BB-ACD3-F833FAF6E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516DE24-48BB-AB71-9E17-C418D90639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EB5EFD-3C82-CCE1-2745-3E43BF7760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8F4F33F-53C5-2597-E06F-A30E625D6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7A901-3D77-471F-AD6C-4EC034B7F44B}" type="datetime1">
              <a:rPr lang="fr-FR" smtClean="0"/>
              <a:t>26/09/2024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CCD3A6-AE66-69CE-512A-2D5C2F615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5731CA-6568-DDC0-421C-88A22E6A5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9667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EC3400-59AB-907B-28F8-9578F91AB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CAAEA88-492F-38F8-1B55-098226B36B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01AA73C-7FDF-7F5E-3AB9-886FD146DB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D70A9A-063A-C74C-6782-92CB621AF6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A8DDE1D-B249-E148-9EAA-67AC5B0C75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524D0E3-4D6A-ED29-2214-D7BFC3AB5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55AB-984D-499A-83ED-AE6325ECF617}" type="datetime1">
              <a:rPr lang="fr-FR" smtClean="0"/>
              <a:t>26/09/2024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3C1D5C-7FF0-FD78-DE9D-A7BE4FFB9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8F50916-BEA7-AF01-94B9-B4A5E3452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4908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D416EB-FA72-6456-6017-4AA83EB0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48A70D4-0FC7-3611-521B-DA77FA6A6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6E26A-EBD2-45F9-A981-74D7FA704F19}" type="datetime1">
              <a:rPr lang="fr-FR" smtClean="0"/>
              <a:t>26/09/2024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1A7A613-025D-1C87-350D-541895D2D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5CFE3E4-F40B-196F-E711-F4F5843B4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5103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863BC8C-9EE4-28B2-B919-920A2B77B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9862C-97B7-40F7-9B0D-C6F2EB253980}" type="datetime1">
              <a:rPr lang="fr-FR" smtClean="0"/>
              <a:t>26/09/2024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F007BE-0845-70EF-D941-7A8DB07F6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9A1E764-56BF-EBBC-C44A-4151B2304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3917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4B5EE0-6AF1-EB66-D2DF-FF295CBF3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6D6757-4DEA-C2F8-1609-BE0A365A1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50C2901-8698-EEEC-8D7E-D00B10BA05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0E3740A-AA59-2EE5-1857-7E4329D8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D2C67-42F9-46F2-A484-AF834F121E1C}" type="datetime1">
              <a:rPr lang="fr-FR" smtClean="0"/>
              <a:t>26/09/2024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145A939-B546-5B39-A34E-DC05D1D0E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0168721-C8E4-73CA-2E62-C27FF0CB4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8299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B24B44-34AA-D61A-2E09-11246AF9C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D3FCD3D-94ED-275B-4EFE-3223927C10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8D1269F-165A-08A5-3BF4-61548AC79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E852774-3F74-4BE6-E868-D99E91283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C7311-6844-47CA-9284-83835D326450}" type="datetime1">
              <a:rPr lang="fr-FR" smtClean="0"/>
              <a:t>26/09/2024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E2F01D6-43C2-01D0-5996-437575073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75FFA26-FAE2-9AFC-1733-080C8A37A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5265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207650-5446-CB79-4404-BF8533EBC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2B759D-69D5-18DA-2A48-4EA834D266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A8A7177-5CF7-BE0A-49EC-EBAF33935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1ED14-0F68-4784-BA60-1800824D64BD}" type="datetime1">
              <a:rPr lang="fr-FR" smtClean="0"/>
              <a:t>26/09/2024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DA98231-EC42-03CA-B7EA-4A0F64805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49A485-EB61-DD68-9A7D-A90895345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9631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6FDB24D-8E5B-736C-BC0E-DCE0A45D5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60D0614-74C3-C702-AA45-5B7C876E22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764EAB-6D21-2521-B60A-EDC2DCA0C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182D4-B8D9-4335-9FFD-1AB043307985}" type="datetime1">
              <a:rPr lang="fr-FR" smtClean="0"/>
              <a:t>26/09/2024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1FDF4CA-3B68-F5DA-680A-FB86D230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9973DD2-2649-3855-FE4A-F1F7DB7B9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2751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56AEF9A-8C8E-AE1C-FF72-BBF5B2A72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A23854E-F636-2492-6237-CD9B6492B1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23" y="645581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  <a:latin typeface="Eras Demi ITC" panose="020B0805030504020804" pitchFamily="34" charset="0"/>
              </a:defRPr>
            </a:lvl1pPr>
          </a:lstStyle>
          <a:p>
            <a:fld id="{E8916647-158D-4054-9FBD-23FBC90D140E}" type="datetime1">
              <a:rPr lang="fr-FR" smtClean="0"/>
              <a:t>26/09/2024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CA399A6-0C35-F964-BD52-5C924747FC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02393" y="645581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/>
                </a:solidFill>
                <a:latin typeface="Eras Demi ITC" panose="020B0805030504020804" pitchFamily="34" charset="0"/>
              </a:defRPr>
            </a:lvl1pPr>
          </a:lstStyle>
          <a:p>
            <a:r>
              <a:rPr lang="fr-FR"/>
              <a:t>Remise à niveau SQL M2 GéoNum – Bastien CAHIER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B24E41E-D246-1CF8-60A4-801310F78C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55819"/>
            <a:ext cx="2387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  <a:latin typeface="Eras Demi ITC" panose="020B0805030504020804" pitchFamily="34" charset="0"/>
              </a:defRPr>
            </a:lvl1pPr>
          </a:lstStyle>
          <a:p>
            <a:fld id="{27C6CCC6-2BE5-4E42-96A4-D1E8E81A3D8E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2BB653-0C19-7CB4-ABD1-67AE5D30D388}"/>
              </a:ext>
            </a:extLst>
          </p:cNvPr>
          <p:cNvSpPr/>
          <p:nvPr userDrawn="1"/>
        </p:nvSpPr>
        <p:spPr>
          <a:xfrm>
            <a:off x="-108155" y="-88490"/>
            <a:ext cx="12388645" cy="976257"/>
          </a:xfrm>
          <a:prstGeom prst="rect">
            <a:avLst/>
          </a:prstGeom>
          <a:gradFill flip="none" rotWithShape="1">
            <a:gsLst>
              <a:gs pos="66000">
                <a:srgbClr val="1D3657"/>
              </a:gs>
              <a:gs pos="100000">
                <a:srgbClr val="8A372D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DAB6E92-4999-9435-D1F8-F37533EA28B7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89" y="0"/>
            <a:ext cx="1341349" cy="869194"/>
          </a:xfrm>
          <a:prstGeom prst="rect">
            <a:avLst/>
          </a:prstGeom>
        </p:spPr>
      </p:pic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50540DA-1943-F5C4-B5B6-8B61250D6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1282" y="37056"/>
            <a:ext cx="6789931" cy="7950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</a:p>
        </p:txBody>
      </p:sp>
      <p:pic>
        <p:nvPicPr>
          <p:cNvPr id="10" name="Image 9" descr="Une image contenant texte, Graphique, Police, logo&#10;&#10;Description générée automatiquement">
            <a:extLst>
              <a:ext uri="{FF2B5EF4-FFF2-40B4-BE49-F238E27FC236}">
                <a16:creationId xmlns:a16="http://schemas.microsoft.com/office/drawing/2014/main" id="{045F4FA3-B30E-D024-B785-12E1E55C63B7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821" y="128306"/>
            <a:ext cx="612580" cy="612580"/>
          </a:xfrm>
          <a:prstGeom prst="rect">
            <a:avLst/>
          </a:prstGeom>
        </p:spPr>
      </p:pic>
      <p:pic>
        <p:nvPicPr>
          <p:cNvPr id="12" name="Image 11" descr="Une image contenant Police, texte, Graphique, logo&#10;&#10;Description générée automatiquement">
            <a:extLst>
              <a:ext uri="{FF2B5EF4-FFF2-40B4-BE49-F238E27FC236}">
                <a16:creationId xmlns:a16="http://schemas.microsoft.com/office/drawing/2014/main" id="{5DB81E4B-385B-5532-83A8-8E8D503219CC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8304" y="190048"/>
            <a:ext cx="878283" cy="489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211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bg1"/>
          </a:solidFill>
          <a:latin typeface="Eras Demi ITC" panose="020B08050305040208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Eras Medium ITC" panose="020B06020305040208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Eras Medium ITC" panose="020B06020305040208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Eras Medium ITC" panose="020B06020305040208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Eras Medium ITC" panose="020B06020305040208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Eras Medium ITC" panose="020B06020305040208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823D37F1-F02D-BC45-7781-0208F2AB32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74073"/>
            <a:ext cx="9144000" cy="2031477"/>
          </a:xfrm>
        </p:spPr>
        <p:txBody>
          <a:bodyPr>
            <a:normAutofit fontScale="77500" lnSpcReduction="20000"/>
          </a:bodyPr>
          <a:lstStyle/>
          <a:p>
            <a:r>
              <a:rPr lang="fr-FR" sz="2900" b="1" dirty="0"/>
              <a:t>Master II </a:t>
            </a:r>
            <a:r>
              <a:rPr lang="fr-FR" sz="2900" b="1" dirty="0" err="1"/>
              <a:t>GéoNum</a:t>
            </a:r>
            <a:r>
              <a:rPr lang="fr-FR" sz="2900" b="1" dirty="0"/>
              <a:t>, Promotion 2024</a:t>
            </a:r>
          </a:p>
          <a:p>
            <a:endParaRPr lang="fr-FR" sz="2900" b="1" dirty="0"/>
          </a:p>
          <a:p>
            <a:pPr algn="ctr"/>
            <a:r>
              <a:rPr lang="fr-FR" dirty="0"/>
              <a:t>Université Lyon – Campus Porte des Alpes</a:t>
            </a:r>
          </a:p>
          <a:p>
            <a:r>
              <a:rPr lang="fr-FR" sz="2400" dirty="0"/>
              <a:t>04/10/2024</a:t>
            </a:r>
          </a:p>
          <a:p>
            <a:endParaRPr lang="fr-FR" dirty="0"/>
          </a:p>
          <a:p>
            <a:pPr algn="ctr"/>
            <a:r>
              <a:rPr lang="fr-FR" sz="2400" dirty="0"/>
              <a:t>Bastien CAHIER – </a:t>
            </a:r>
            <a:r>
              <a:rPr lang="fr-FR" dirty="0"/>
              <a:t>MCP Data Solutions</a:t>
            </a:r>
            <a:endParaRPr lang="fr-FR" sz="2400" dirty="0"/>
          </a:p>
          <a:p>
            <a:pPr algn="ctr"/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E2B2C03-D6F1-4950-6836-FC9CCDAD4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0114" y="907128"/>
            <a:ext cx="2880356" cy="1855122"/>
          </a:xfrm>
          <a:prstGeom prst="rect">
            <a:avLst/>
          </a:prstGeom>
        </p:spPr>
      </p:pic>
      <p:pic>
        <p:nvPicPr>
          <p:cNvPr id="5" name="Image 4" descr="Une image contenant Police, texte, Graphique, logo&#10;&#10;Description générée automatiquement">
            <a:extLst>
              <a:ext uri="{FF2B5EF4-FFF2-40B4-BE49-F238E27FC236}">
                <a16:creationId xmlns:a16="http://schemas.microsoft.com/office/drawing/2014/main" id="{428FCFA2-E9B6-EEEE-7869-347943E0653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575" y="1232677"/>
            <a:ext cx="2180393" cy="1214214"/>
          </a:xfrm>
          <a:prstGeom prst="rect">
            <a:avLst/>
          </a:prstGeom>
        </p:spPr>
      </p:pic>
      <p:pic>
        <p:nvPicPr>
          <p:cNvPr id="7" name="Image 6" descr="Une image contenant texte, Graphique, Police, logo&#10;&#10;Description générée automatiquement">
            <a:extLst>
              <a:ext uri="{FF2B5EF4-FFF2-40B4-BE49-F238E27FC236}">
                <a16:creationId xmlns:a16="http://schemas.microsoft.com/office/drawing/2014/main" id="{586FBE0E-4C30-F6C2-2066-D8E5350EFBB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7883" y="1232677"/>
            <a:ext cx="1218934" cy="1218934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56D43027-6008-1465-B3D5-82D0B46037F1}"/>
              </a:ext>
            </a:extLst>
          </p:cNvPr>
          <p:cNvSpPr txBox="1"/>
          <p:nvPr/>
        </p:nvSpPr>
        <p:spPr>
          <a:xfrm>
            <a:off x="3638550" y="3170833"/>
            <a:ext cx="49149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600" dirty="0">
                <a:solidFill>
                  <a:schemeClr val="bg1"/>
                </a:solidFill>
                <a:latin typeface="Eras Bold ITC" panose="020B0907030504020204" pitchFamily="34" charset="0"/>
              </a:rPr>
              <a:t>Rappels SQL, </a:t>
            </a:r>
            <a:r>
              <a:rPr lang="fr-FR" sz="2600" dirty="0" err="1">
                <a:solidFill>
                  <a:schemeClr val="bg1"/>
                </a:solidFill>
                <a:latin typeface="Eras Bold ITC" panose="020B0907030504020204" pitchFamily="34" charset="0"/>
              </a:rPr>
              <a:t>PostgresSQL</a:t>
            </a:r>
            <a:r>
              <a:rPr lang="fr-FR" sz="2600" dirty="0">
                <a:solidFill>
                  <a:schemeClr val="bg1"/>
                </a:solidFill>
                <a:latin typeface="Eras Bold ITC" panose="020B0907030504020204" pitchFamily="34" charset="0"/>
              </a:rPr>
              <a:t> &amp; </a:t>
            </a:r>
            <a:r>
              <a:rPr lang="fr-FR" sz="2600" dirty="0" err="1">
                <a:solidFill>
                  <a:schemeClr val="bg1"/>
                </a:solidFill>
                <a:latin typeface="Eras Bold ITC" panose="020B0907030504020204" pitchFamily="34" charset="0"/>
              </a:rPr>
              <a:t>PostGIS</a:t>
            </a:r>
            <a:endParaRPr lang="fr-FR" sz="2600" dirty="0">
              <a:solidFill>
                <a:schemeClr val="bg1"/>
              </a:solidFill>
              <a:latin typeface="Eras Bold ITC" panose="020B0907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468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E03800-CBD7-1CDE-DCDE-9D5291CED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Programme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724E5AB-5D34-C29A-7392-598586671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6B89074-B84B-F35C-101B-154E9EF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2</a:t>
            </a:fld>
            <a:endParaRPr lang="fr-FR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00382BF2-E18C-2551-899B-22E244B10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FR" dirty="0"/>
              <a:t>01 module de 3H : 04 octobre.</a:t>
            </a:r>
          </a:p>
          <a:p>
            <a:endParaRPr lang="fr-FR" dirty="0"/>
          </a:p>
          <a:p>
            <a:r>
              <a:rPr lang="fr-FR" dirty="0"/>
              <a:t>Rappels et remise à niveau :</a:t>
            </a:r>
          </a:p>
          <a:p>
            <a:pPr lvl="1"/>
            <a:r>
              <a:rPr lang="fr-FR" dirty="0"/>
              <a:t>requêtes de sélection</a:t>
            </a:r>
          </a:p>
          <a:p>
            <a:pPr lvl="2"/>
            <a:r>
              <a:rPr lang="fr-FR" dirty="0"/>
              <a:t>Simples</a:t>
            </a:r>
          </a:p>
          <a:p>
            <a:pPr lvl="2"/>
            <a:r>
              <a:rPr lang="fr-FR" dirty="0" err="1"/>
              <a:t>Aggrégation</a:t>
            </a:r>
            <a:endParaRPr lang="fr-FR" dirty="0"/>
          </a:p>
          <a:p>
            <a:pPr lvl="2"/>
            <a:r>
              <a:rPr lang="fr-FR" dirty="0"/>
              <a:t>Jointures attributaires</a:t>
            </a:r>
          </a:p>
          <a:p>
            <a:pPr lvl="2"/>
            <a:r>
              <a:rPr lang="fr-FR" dirty="0"/>
              <a:t>Jointures spatiales</a:t>
            </a:r>
          </a:p>
          <a:p>
            <a:pPr lvl="2"/>
            <a:r>
              <a:rPr lang="fr-FR" dirty="0"/>
              <a:t>Requêtes imbriquées</a:t>
            </a:r>
          </a:p>
          <a:p>
            <a:pPr lvl="1"/>
            <a:r>
              <a:rPr lang="fr-FR" dirty="0"/>
              <a:t>Requêtes de mise à jour</a:t>
            </a:r>
          </a:p>
          <a:p>
            <a:pPr lvl="1"/>
            <a:r>
              <a:rPr lang="fr-FR" dirty="0"/>
              <a:t>Requêtes d’insertion</a:t>
            </a:r>
          </a:p>
          <a:p>
            <a:pPr lvl="1"/>
            <a:r>
              <a:rPr lang="fr-FR" dirty="0"/>
              <a:t>Requêtes de suppression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79086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E03800-CBD7-1CDE-DCDE-9D5291CED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Jeu de données à utiliser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724E5AB-5D34-C29A-7392-598586671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6B89074-B84B-F35C-101B-154E9EF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3</a:t>
            </a:fld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EADBB2A-C17C-A2C6-4161-52AAEC19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Se rendre à l’adresse </a:t>
            </a:r>
            <a:r>
              <a:rPr lang="fr-FR" sz="2400" dirty="0" err="1"/>
              <a:t>gitHub</a:t>
            </a:r>
            <a:r>
              <a:rPr lang="fr-FR" sz="2400" dirty="0"/>
              <a:t> : https://github.com/bcahier/cours_m2</a:t>
            </a:r>
            <a:r>
              <a:rPr lang="fr-FR" sz="2400"/>
              <a:t>_sql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614780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E03800-CBD7-1CDE-DCDE-9D5291CED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Jeu de données à utiliser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724E5AB-5D34-C29A-7392-598586671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6B89074-B84B-F35C-101B-154E9EF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4</a:t>
            </a:fld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EADBB2A-C17C-A2C6-4161-52AAEC19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Base de données du projet </a:t>
            </a:r>
            <a:r>
              <a:rPr lang="fr-FR" sz="2400" dirty="0" err="1"/>
              <a:t>géonumérique</a:t>
            </a:r>
            <a:r>
              <a:rPr lang="fr-FR" sz="2400" dirty="0"/>
              <a:t> CUMUL’O (Promotion 2019/2020) (L. </a:t>
            </a:r>
            <a:r>
              <a:rPr lang="fr-FR" sz="2400" dirty="0" err="1"/>
              <a:t>Gonon</a:t>
            </a:r>
            <a:r>
              <a:rPr lang="fr-FR" sz="2400" dirty="0"/>
              <a:t>, B. Cahier, D. </a:t>
            </a:r>
            <a:r>
              <a:rPr lang="fr-FR" sz="2400" dirty="0" err="1"/>
              <a:t>Alindawa</a:t>
            </a:r>
            <a:r>
              <a:rPr lang="fr-FR" sz="2400" dirty="0"/>
              <a:t>, B. Blanc) (sources : Grand Lyon / </a:t>
            </a:r>
            <a:r>
              <a:rPr lang="fr-FR" sz="2400" dirty="0" err="1"/>
              <a:t>insee</a:t>
            </a:r>
            <a:r>
              <a:rPr lang="fr-FR" sz="2400" dirty="0"/>
              <a:t> 2020)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r>
              <a:rPr lang="fr-FR" sz="2400" dirty="0">
                <a:sym typeface="Wingdings" panose="05000000000000000000" pitchFamily="2" charset="2"/>
              </a:rPr>
              <a:t>- table </a:t>
            </a:r>
            <a:r>
              <a:rPr lang="fr-FR" sz="2400" i="1" dirty="0">
                <a:sym typeface="Wingdings" panose="05000000000000000000" pitchFamily="2" charset="2"/>
              </a:rPr>
              <a:t>capteurs </a:t>
            </a:r>
            <a:r>
              <a:rPr lang="fr-FR" sz="2400" dirty="0">
                <a:sym typeface="Wingdings" panose="05000000000000000000" pitchFamily="2" charset="2"/>
              </a:rPr>
              <a:t> : </a:t>
            </a:r>
            <a:r>
              <a:rPr lang="fr-FR" sz="2400" b="1" dirty="0">
                <a:sym typeface="Wingdings" panose="05000000000000000000" pitchFamily="2" charset="2"/>
              </a:rPr>
              <a:t>nom, adresse, et position</a:t>
            </a:r>
            <a:r>
              <a:rPr lang="fr-FR" sz="2400" dirty="0">
                <a:sym typeface="Wingdings" panose="05000000000000000000" pitchFamily="2" charset="2"/>
              </a:rPr>
              <a:t> des capteurs de précipitations de la métropole du Grand Lyon</a:t>
            </a:r>
          </a:p>
          <a:p>
            <a:pPr marL="0" indent="0">
              <a:buNone/>
            </a:pPr>
            <a:r>
              <a:rPr lang="fr-FR" sz="2400" dirty="0">
                <a:sym typeface="Wingdings" panose="05000000000000000000" pitchFamily="2" charset="2"/>
              </a:rPr>
              <a:t>- table </a:t>
            </a:r>
            <a:r>
              <a:rPr lang="fr-FR" sz="2400" i="1" dirty="0" err="1">
                <a:sym typeface="Wingdings" panose="05000000000000000000" pitchFamily="2" charset="2"/>
              </a:rPr>
              <a:t>releves</a:t>
            </a:r>
            <a:r>
              <a:rPr lang="fr-FR" sz="2400" i="1" dirty="0">
                <a:sym typeface="Wingdings" panose="05000000000000000000" pitchFamily="2" charset="2"/>
              </a:rPr>
              <a:t>  </a:t>
            </a:r>
            <a:r>
              <a:rPr lang="fr-FR" sz="2400" dirty="0">
                <a:sym typeface="Wingdings" panose="05000000000000000000" pitchFamily="2" charset="2"/>
              </a:rPr>
              <a:t>: relevés de précipitation mensuelle (mm) pour chaque capteur</a:t>
            </a:r>
          </a:p>
          <a:p>
            <a:pPr marL="0" indent="0">
              <a:buNone/>
            </a:pPr>
            <a:r>
              <a:rPr lang="fr-FR" sz="2400" dirty="0">
                <a:sym typeface="Wingdings" panose="05000000000000000000" pitchFamily="2" charset="2"/>
              </a:rPr>
              <a:t>- table </a:t>
            </a:r>
            <a:r>
              <a:rPr lang="fr-FR" sz="2400" i="1" dirty="0">
                <a:sym typeface="Wingdings" panose="05000000000000000000" pitchFamily="2" charset="2"/>
              </a:rPr>
              <a:t>pop_200</a:t>
            </a:r>
            <a:r>
              <a:rPr lang="fr-FR" sz="2400" dirty="0">
                <a:sym typeface="Wingdings" panose="05000000000000000000" pitchFamily="2" charset="2"/>
              </a:rPr>
              <a:t>  : statistiques de la population par carreau de 200m de côté</a:t>
            </a:r>
          </a:p>
          <a:p>
            <a:pPr marL="0" indent="0">
              <a:buNone/>
            </a:pPr>
            <a:r>
              <a:rPr lang="fr-FR" sz="2400" i="1" dirty="0">
                <a:sym typeface="Wingdings" panose="05000000000000000000" pitchFamily="2" charset="2"/>
              </a:rPr>
              <a:t>- </a:t>
            </a:r>
            <a:r>
              <a:rPr lang="fr-FR" sz="2400" dirty="0">
                <a:sym typeface="Wingdings" panose="05000000000000000000" pitchFamily="2" charset="2"/>
              </a:rPr>
              <a:t>table </a:t>
            </a:r>
            <a:r>
              <a:rPr lang="fr-FR" sz="2400" dirty="0" err="1">
                <a:sym typeface="Wingdings" panose="05000000000000000000" pitchFamily="2" charset="2"/>
              </a:rPr>
              <a:t>communes_metrop</a:t>
            </a:r>
            <a:r>
              <a:rPr lang="fr-FR" sz="2400" dirty="0">
                <a:sym typeface="Wingdings" panose="05000000000000000000" pitchFamily="2" charset="2"/>
              </a:rPr>
              <a:t> : communes de la métropole de Lyon.</a:t>
            </a:r>
            <a:endParaRPr lang="fr-FR" sz="2400" i="1" dirty="0"/>
          </a:p>
        </p:txBody>
      </p:sp>
    </p:spTree>
    <p:extLst>
      <p:ext uri="{BB962C8B-B14F-4D97-AF65-F5344CB8AC3E}">
        <p14:creationId xmlns:p14="http://schemas.microsoft.com/office/powerpoint/2010/main" val="971901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CFA16849-9C77-B4DD-F3F3-A222258E0A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892829"/>
            <a:ext cx="9144000" cy="2364971"/>
          </a:xfrm>
        </p:spPr>
        <p:txBody>
          <a:bodyPr/>
          <a:lstStyle/>
          <a:p>
            <a:r>
              <a:rPr lang="fr-FR" dirty="0"/>
              <a:t>Les requêtes de sélection</a:t>
            </a:r>
          </a:p>
        </p:txBody>
      </p:sp>
    </p:spTree>
    <p:extLst>
      <p:ext uri="{BB962C8B-B14F-4D97-AF65-F5344CB8AC3E}">
        <p14:creationId xmlns:p14="http://schemas.microsoft.com/office/powerpoint/2010/main" val="2473323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E03800-CBD7-1CDE-DCDE-9D5291CED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requêtes de sélections - basique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724E5AB-5D34-C29A-7392-598586671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6B89074-B84B-F35C-101B-154E9EF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6</a:t>
            </a:fld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D202FF3-A70C-5A62-1940-EE703C9B88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3175"/>
            <a:ext cx="10998200" cy="917575"/>
          </a:xfrm>
        </p:spPr>
        <p:txBody>
          <a:bodyPr/>
          <a:lstStyle/>
          <a:p>
            <a:pPr marL="0" indent="0">
              <a:buNone/>
            </a:pPr>
            <a:r>
              <a:rPr lang="fr-FR" sz="2000" dirty="0">
                <a:solidFill>
                  <a:schemeClr val="accent3"/>
                </a:solidFill>
              </a:rPr>
              <a:t>SELECT </a:t>
            </a:r>
            <a:r>
              <a:rPr lang="fr-FR" sz="2000" i="1" dirty="0">
                <a:solidFill>
                  <a:schemeClr val="accent3"/>
                </a:solidFill>
              </a:rPr>
              <a:t>champ(s)  </a:t>
            </a:r>
            <a:r>
              <a:rPr lang="fr-FR" sz="2000" dirty="0">
                <a:solidFill>
                  <a:schemeClr val="accent5"/>
                </a:solidFill>
              </a:rPr>
              <a:t>FROM </a:t>
            </a:r>
            <a:r>
              <a:rPr lang="fr-FR" sz="2000" i="1" dirty="0" err="1">
                <a:solidFill>
                  <a:schemeClr val="accent5"/>
                </a:solidFill>
              </a:rPr>
              <a:t>tablename</a:t>
            </a:r>
            <a:r>
              <a:rPr lang="fr-FR" sz="2000" i="1" dirty="0">
                <a:solidFill>
                  <a:schemeClr val="accent5"/>
                </a:solidFill>
              </a:rPr>
              <a:t> </a:t>
            </a:r>
            <a:r>
              <a:rPr lang="fr-FR" sz="2000" dirty="0">
                <a:solidFill>
                  <a:schemeClr val="accent2"/>
                </a:solidFill>
              </a:rPr>
              <a:t>[WHERE </a:t>
            </a:r>
            <a:r>
              <a:rPr lang="fr-FR" sz="2000" i="1" dirty="0">
                <a:solidFill>
                  <a:schemeClr val="accent2"/>
                </a:solidFill>
              </a:rPr>
              <a:t>condition(s)</a:t>
            </a:r>
            <a:r>
              <a:rPr lang="fr-FR" sz="2000" dirty="0">
                <a:solidFill>
                  <a:schemeClr val="accent2"/>
                </a:solidFill>
              </a:rPr>
              <a:t>]</a:t>
            </a:r>
            <a:r>
              <a:rPr lang="fr-FR" sz="2000" i="1" dirty="0">
                <a:solidFill>
                  <a:schemeClr val="accent2"/>
                </a:solidFill>
              </a:rPr>
              <a:t> </a:t>
            </a:r>
            <a:r>
              <a:rPr lang="fr-FR" sz="2000" dirty="0">
                <a:solidFill>
                  <a:schemeClr val="accent1"/>
                </a:solidFill>
              </a:rPr>
              <a:t>[ORDER BY </a:t>
            </a:r>
            <a:r>
              <a:rPr lang="fr-FR" sz="2000" i="1" dirty="0">
                <a:solidFill>
                  <a:schemeClr val="accent1"/>
                </a:solidFill>
              </a:rPr>
              <a:t>champ(s)</a:t>
            </a:r>
            <a:r>
              <a:rPr lang="fr-FR" sz="2000" dirty="0">
                <a:solidFill>
                  <a:schemeClr val="accent1"/>
                </a:solidFill>
              </a:rPr>
              <a:t>] </a:t>
            </a:r>
            <a:r>
              <a:rPr lang="fr-FR" sz="2000" dirty="0">
                <a:solidFill>
                  <a:schemeClr val="accent2"/>
                </a:solidFill>
              </a:rPr>
              <a:t>[LIMIT</a:t>
            </a:r>
            <a:r>
              <a:rPr lang="fr-FR" sz="2000" i="1" dirty="0">
                <a:solidFill>
                  <a:schemeClr val="accent2"/>
                </a:solidFill>
              </a:rPr>
              <a:t> value</a:t>
            </a:r>
            <a:r>
              <a:rPr lang="fr-FR" sz="2000" dirty="0">
                <a:solidFill>
                  <a:schemeClr val="accent2"/>
                </a:solidFill>
              </a:rPr>
              <a:t>]</a:t>
            </a:r>
            <a:r>
              <a:rPr lang="fr-FR" sz="2000" b="1" dirty="0">
                <a:solidFill>
                  <a:srgbClr val="FF0000"/>
                </a:solidFill>
              </a:rPr>
              <a:t>;</a:t>
            </a:r>
            <a:endParaRPr lang="fr-FR" sz="2000" b="1" i="1" dirty="0">
              <a:solidFill>
                <a:srgbClr val="FF0000"/>
              </a:solidFill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724E1C8-43BF-15B4-8EE6-509946E111BB}"/>
              </a:ext>
            </a:extLst>
          </p:cNvPr>
          <p:cNvSpPr txBox="1"/>
          <p:nvPr/>
        </p:nvSpPr>
        <p:spPr>
          <a:xfrm>
            <a:off x="838200" y="2028825"/>
            <a:ext cx="107996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1. sélectionner les capteurs (table </a:t>
            </a:r>
            <a:r>
              <a:rPr lang="fr-FR" i="1" dirty="0"/>
              <a:t>capteurs</a:t>
            </a:r>
            <a:r>
              <a:rPr lang="fr-FR" dirty="0"/>
              <a:t>, champs </a:t>
            </a:r>
            <a:r>
              <a:rPr lang="fr-FR" i="1" dirty="0"/>
              <a:t>nom</a:t>
            </a:r>
            <a:r>
              <a:rPr lang="fr-FR" dirty="0"/>
              <a:t> et </a:t>
            </a:r>
            <a:r>
              <a:rPr lang="fr-FR" i="1" dirty="0"/>
              <a:t>adresse</a:t>
            </a:r>
            <a:r>
              <a:rPr lang="fr-FR" dirty="0"/>
              <a:t>) positionnés dans la ville de </a:t>
            </a:r>
            <a:r>
              <a:rPr lang="fr-FR" dirty="0" err="1"/>
              <a:t>lyon</a:t>
            </a:r>
            <a:r>
              <a:rPr lang="fr-FR" dirty="0"/>
              <a:t> (champ </a:t>
            </a:r>
            <a:r>
              <a:rPr lang="fr-FR" i="1" dirty="0"/>
              <a:t>adresse</a:t>
            </a:r>
            <a:r>
              <a:rPr lang="fr-FR" dirty="0"/>
              <a:t>), et trié par </a:t>
            </a:r>
            <a:r>
              <a:rPr lang="fr-FR" i="1" dirty="0"/>
              <a:t>nom</a:t>
            </a:r>
            <a:r>
              <a:rPr lang="fr-FR" dirty="0"/>
              <a:t> (Z-A)</a:t>
            </a:r>
          </a:p>
          <a:p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97124A0-70D5-ECDA-D51E-B6651BEAA12F}"/>
              </a:ext>
            </a:extLst>
          </p:cNvPr>
          <p:cNvSpPr txBox="1"/>
          <p:nvPr/>
        </p:nvSpPr>
        <p:spPr>
          <a:xfrm>
            <a:off x="838200" y="2778703"/>
            <a:ext cx="100017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3"/>
                </a:solidFill>
              </a:rPr>
              <a:t>SELECT </a:t>
            </a:r>
            <a:r>
              <a:rPr lang="fr-FR" i="1" dirty="0">
                <a:solidFill>
                  <a:schemeClr val="accent3"/>
                </a:solidFill>
              </a:rPr>
              <a:t>nom</a:t>
            </a:r>
            <a:r>
              <a:rPr lang="fr-FR" dirty="0">
                <a:solidFill>
                  <a:schemeClr val="accent3"/>
                </a:solidFill>
              </a:rPr>
              <a:t>, </a:t>
            </a:r>
            <a:r>
              <a:rPr lang="fr-FR" i="1" dirty="0">
                <a:solidFill>
                  <a:schemeClr val="accent3"/>
                </a:solidFill>
              </a:rPr>
              <a:t>adresse</a:t>
            </a:r>
            <a:r>
              <a:rPr lang="fr-FR" dirty="0">
                <a:solidFill>
                  <a:schemeClr val="accent3"/>
                </a:solidFill>
              </a:rPr>
              <a:t>  </a:t>
            </a:r>
            <a:r>
              <a:rPr lang="fr-FR" dirty="0">
                <a:solidFill>
                  <a:schemeClr val="accent5"/>
                </a:solidFill>
              </a:rPr>
              <a:t>FROM capteurs </a:t>
            </a:r>
            <a:r>
              <a:rPr lang="fr-FR" dirty="0">
                <a:solidFill>
                  <a:schemeClr val="accent2"/>
                </a:solidFill>
              </a:rPr>
              <a:t>WHERE </a:t>
            </a:r>
            <a:r>
              <a:rPr lang="fr-FR" dirty="0" err="1">
                <a:solidFill>
                  <a:schemeClr val="accent2"/>
                </a:solidFill>
              </a:rPr>
              <a:t>upper</a:t>
            </a:r>
            <a:r>
              <a:rPr lang="fr-FR" dirty="0">
                <a:solidFill>
                  <a:schemeClr val="accent2"/>
                </a:solidFill>
              </a:rPr>
              <a:t>(</a:t>
            </a:r>
            <a:r>
              <a:rPr lang="fr-FR" i="1" dirty="0">
                <a:solidFill>
                  <a:schemeClr val="accent2"/>
                </a:solidFill>
              </a:rPr>
              <a:t>adresse</a:t>
            </a:r>
            <a:r>
              <a:rPr lang="fr-FR" dirty="0">
                <a:solidFill>
                  <a:schemeClr val="accent2"/>
                </a:solidFill>
              </a:rPr>
              <a:t>) like '%LYON%' </a:t>
            </a:r>
            <a:r>
              <a:rPr lang="fr-FR" dirty="0">
                <a:solidFill>
                  <a:schemeClr val="accent1"/>
                </a:solidFill>
              </a:rPr>
              <a:t>ORDER BY </a:t>
            </a:r>
            <a:r>
              <a:rPr lang="fr-FR" i="1" dirty="0">
                <a:solidFill>
                  <a:schemeClr val="accent1"/>
                </a:solidFill>
              </a:rPr>
              <a:t>nom</a:t>
            </a:r>
            <a:r>
              <a:rPr lang="fr-FR" dirty="0">
                <a:solidFill>
                  <a:schemeClr val="accent1"/>
                </a:solidFill>
              </a:rPr>
              <a:t> </a:t>
            </a:r>
            <a:r>
              <a:rPr lang="fr-FR" dirty="0" err="1">
                <a:solidFill>
                  <a:schemeClr val="accent1"/>
                </a:solidFill>
              </a:rPr>
              <a:t>desc</a:t>
            </a:r>
            <a:r>
              <a:rPr lang="fr-FR" dirty="0">
                <a:solidFill>
                  <a:schemeClr val="accent1"/>
                </a:solidFill>
              </a:rPr>
              <a:t>;</a:t>
            </a:r>
          </a:p>
          <a:p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F37AEAF-5209-BCFD-DF0B-13E9AE9B3098}"/>
              </a:ext>
            </a:extLst>
          </p:cNvPr>
          <p:cNvSpPr txBox="1"/>
          <p:nvPr/>
        </p:nvSpPr>
        <p:spPr>
          <a:xfrm>
            <a:off x="838200" y="3321951"/>
            <a:ext cx="107996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2. Sélectionner le nombre de carreaux de la métropole (table </a:t>
            </a:r>
            <a:r>
              <a:rPr lang="fr-FR" i="1" dirty="0"/>
              <a:t>pop_</a:t>
            </a:r>
            <a:r>
              <a:rPr lang="fr-FR" dirty="0"/>
              <a:t>200) ayant une proportion de ménages en maison (</a:t>
            </a:r>
            <a:r>
              <a:rPr lang="fr-FR" i="1" dirty="0" err="1"/>
              <a:t>men_mais</a:t>
            </a:r>
            <a:r>
              <a:rPr lang="fr-FR" dirty="0"/>
              <a:t>) &gt; 85% OU &lt; 15 % (total = ménages collectifs </a:t>
            </a:r>
            <a:r>
              <a:rPr lang="fr-FR" i="1" dirty="0" err="1"/>
              <a:t>men_coll</a:t>
            </a:r>
            <a:r>
              <a:rPr lang="fr-FR" i="1" dirty="0"/>
              <a:t> </a:t>
            </a:r>
            <a:r>
              <a:rPr lang="fr-FR" dirty="0"/>
              <a:t>+ ménages en maison </a:t>
            </a:r>
            <a:r>
              <a:rPr lang="fr-FR" i="1" dirty="0" err="1"/>
              <a:t>men_mais</a:t>
            </a:r>
            <a:r>
              <a:rPr lang="fr-FR" dirty="0"/>
              <a:t>)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1D95FD4-F9AC-F246-8942-8D593536386D}"/>
              </a:ext>
            </a:extLst>
          </p:cNvPr>
          <p:cNvSpPr txBox="1"/>
          <p:nvPr/>
        </p:nvSpPr>
        <p:spPr>
          <a:xfrm>
            <a:off x="838200" y="4198082"/>
            <a:ext cx="108368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3"/>
                </a:solidFill>
              </a:rPr>
              <a:t>SELECT count(*) AS </a:t>
            </a:r>
            <a:r>
              <a:rPr lang="fr-FR" dirty="0" err="1">
                <a:solidFill>
                  <a:schemeClr val="accent3"/>
                </a:solidFill>
              </a:rPr>
              <a:t>nb_carreaux</a:t>
            </a:r>
            <a:r>
              <a:rPr lang="fr-FR" dirty="0">
                <a:solidFill>
                  <a:schemeClr val="accent3"/>
                </a:solidFill>
              </a:rPr>
              <a:t> </a:t>
            </a:r>
            <a:r>
              <a:rPr lang="fr-FR" dirty="0">
                <a:solidFill>
                  <a:schemeClr val="accent5"/>
                </a:solidFill>
              </a:rPr>
              <a:t>FROM </a:t>
            </a:r>
            <a:r>
              <a:rPr lang="fr-FR" i="1" dirty="0">
                <a:solidFill>
                  <a:schemeClr val="accent5"/>
                </a:solidFill>
              </a:rPr>
              <a:t>pop_200 </a:t>
            </a:r>
            <a:r>
              <a:rPr lang="fr-FR" dirty="0">
                <a:solidFill>
                  <a:schemeClr val="accent2"/>
                </a:solidFill>
              </a:rPr>
              <a:t>WHERE (( </a:t>
            </a:r>
            <a:r>
              <a:rPr lang="fr-FR" i="1" dirty="0" err="1">
                <a:solidFill>
                  <a:schemeClr val="accent2"/>
                </a:solidFill>
              </a:rPr>
              <a:t>men_mais</a:t>
            </a:r>
            <a:r>
              <a:rPr lang="fr-FR" i="1" dirty="0">
                <a:solidFill>
                  <a:schemeClr val="accent2"/>
                </a:solidFill>
              </a:rPr>
              <a:t> </a:t>
            </a:r>
            <a:r>
              <a:rPr lang="fr-FR" dirty="0">
                <a:solidFill>
                  <a:schemeClr val="accent2"/>
                </a:solidFill>
              </a:rPr>
              <a:t>* 100/  (</a:t>
            </a:r>
            <a:r>
              <a:rPr lang="fr-FR" i="1" dirty="0" err="1">
                <a:solidFill>
                  <a:schemeClr val="accent2"/>
                </a:solidFill>
              </a:rPr>
              <a:t>men_mais</a:t>
            </a:r>
            <a:r>
              <a:rPr lang="fr-FR" i="1" dirty="0">
                <a:solidFill>
                  <a:schemeClr val="accent2"/>
                </a:solidFill>
              </a:rPr>
              <a:t> </a:t>
            </a:r>
            <a:r>
              <a:rPr lang="fr-FR" dirty="0">
                <a:solidFill>
                  <a:schemeClr val="accent2"/>
                </a:solidFill>
              </a:rPr>
              <a:t>+ </a:t>
            </a:r>
            <a:r>
              <a:rPr lang="fr-FR" i="1" dirty="0" err="1">
                <a:solidFill>
                  <a:schemeClr val="accent2"/>
                </a:solidFill>
              </a:rPr>
              <a:t>men_coll</a:t>
            </a:r>
            <a:r>
              <a:rPr lang="fr-FR" dirty="0">
                <a:solidFill>
                  <a:schemeClr val="accent2"/>
                </a:solidFill>
              </a:rPr>
              <a:t>) ) &gt; 85 ) </a:t>
            </a:r>
          </a:p>
          <a:p>
            <a:r>
              <a:rPr lang="fr-FR" dirty="0">
                <a:solidFill>
                  <a:schemeClr val="accent2"/>
                </a:solidFill>
              </a:rPr>
              <a:t>OR ( (</a:t>
            </a:r>
            <a:r>
              <a:rPr lang="fr-FR" i="1" dirty="0" err="1">
                <a:solidFill>
                  <a:schemeClr val="accent2"/>
                </a:solidFill>
              </a:rPr>
              <a:t>men_mais</a:t>
            </a:r>
            <a:r>
              <a:rPr lang="fr-FR" dirty="0">
                <a:solidFill>
                  <a:schemeClr val="accent2"/>
                </a:solidFill>
              </a:rPr>
              <a:t>*100/(</a:t>
            </a:r>
            <a:r>
              <a:rPr lang="fr-FR" i="1" dirty="0" err="1">
                <a:solidFill>
                  <a:schemeClr val="accent2"/>
                </a:solidFill>
              </a:rPr>
              <a:t>men_mais</a:t>
            </a:r>
            <a:r>
              <a:rPr lang="fr-FR" i="1" dirty="0">
                <a:solidFill>
                  <a:schemeClr val="accent2"/>
                </a:solidFill>
              </a:rPr>
              <a:t> </a:t>
            </a:r>
            <a:r>
              <a:rPr lang="fr-FR" dirty="0">
                <a:solidFill>
                  <a:schemeClr val="accent2"/>
                </a:solidFill>
              </a:rPr>
              <a:t>+ </a:t>
            </a:r>
            <a:r>
              <a:rPr lang="fr-FR" i="1" dirty="0" err="1">
                <a:solidFill>
                  <a:schemeClr val="accent2"/>
                </a:solidFill>
              </a:rPr>
              <a:t>men_coll</a:t>
            </a:r>
            <a:r>
              <a:rPr lang="fr-FR" dirty="0">
                <a:solidFill>
                  <a:schemeClr val="accent2"/>
                </a:solidFill>
              </a:rPr>
              <a:t>)) &lt; 15);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2EBFCA9-3241-B65B-285F-3EC417741250}"/>
              </a:ext>
            </a:extLst>
          </p:cNvPr>
          <p:cNvSpPr txBox="1"/>
          <p:nvPr/>
        </p:nvSpPr>
        <p:spPr>
          <a:xfrm>
            <a:off x="838200" y="4940841"/>
            <a:ext cx="107996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3. Sélectionner le nom, latitude et longitude de la commune (table </a:t>
            </a:r>
            <a:r>
              <a:rPr lang="fr-FR" i="1" dirty="0" err="1"/>
              <a:t>communes_metrop</a:t>
            </a:r>
            <a:r>
              <a:rPr lang="fr-FR" dirty="0"/>
              <a:t>, champs </a:t>
            </a:r>
            <a:r>
              <a:rPr lang="fr-FR" i="1" dirty="0"/>
              <a:t>nom &amp; </a:t>
            </a:r>
            <a:r>
              <a:rPr lang="fr-FR" i="1" dirty="0" err="1"/>
              <a:t>geom</a:t>
            </a:r>
            <a:r>
              <a:rPr lang="fr-FR" dirty="0"/>
              <a:t>) dont le centre est à le plus proche à l'Est du 5è méridien. 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E2C454B1-504F-BA89-BA9B-0A391AED3DD3}"/>
              </a:ext>
            </a:extLst>
          </p:cNvPr>
          <p:cNvSpPr txBox="1"/>
          <p:nvPr/>
        </p:nvSpPr>
        <p:spPr>
          <a:xfrm>
            <a:off x="1167471" y="5620615"/>
            <a:ext cx="98570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SELECT </a:t>
            </a:r>
            <a:r>
              <a:rPr lang="en-US" i="1" dirty="0">
                <a:solidFill>
                  <a:schemeClr val="accent3"/>
                </a:solidFill>
              </a:rPr>
              <a:t>nom</a:t>
            </a:r>
            <a:r>
              <a:rPr lang="en-US" dirty="0">
                <a:solidFill>
                  <a:schemeClr val="accent3"/>
                </a:solidFill>
              </a:rPr>
              <a:t>, </a:t>
            </a:r>
            <a:r>
              <a:rPr lang="en-US" dirty="0" err="1">
                <a:solidFill>
                  <a:schemeClr val="accent3"/>
                </a:solidFill>
              </a:rPr>
              <a:t>st_x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 err="1">
                <a:solidFill>
                  <a:schemeClr val="accent3"/>
                </a:solidFill>
              </a:rPr>
              <a:t>st_centroid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i="1" dirty="0" err="1">
                <a:solidFill>
                  <a:schemeClr val="accent3"/>
                </a:solidFill>
              </a:rPr>
              <a:t>geom</a:t>
            </a:r>
            <a:r>
              <a:rPr lang="en-US" dirty="0">
                <a:solidFill>
                  <a:schemeClr val="accent3"/>
                </a:solidFill>
              </a:rPr>
              <a:t>)) as longitude, </a:t>
            </a:r>
            <a:r>
              <a:rPr lang="en-US" dirty="0" err="1">
                <a:solidFill>
                  <a:schemeClr val="accent3"/>
                </a:solidFill>
              </a:rPr>
              <a:t>st_y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 err="1">
                <a:solidFill>
                  <a:schemeClr val="accent3"/>
                </a:solidFill>
              </a:rPr>
              <a:t>st_centroid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i="1" dirty="0" err="1">
                <a:solidFill>
                  <a:schemeClr val="accent3"/>
                </a:solidFill>
              </a:rPr>
              <a:t>geom</a:t>
            </a:r>
            <a:r>
              <a:rPr lang="en-US" dirty="0">
                <a:solidFill>
                  <a:schemeClr val="accent3"/>
                </a:solidFill>
              </a:rPr>
              <a:t>)) as latitude </a:t>
            </a:r>
          </a:p>
          <a:p>
            <a:r>
              <a:rPr lang="en-US" dirty="0">
                <a:solidFill>
                  <a:schemeClr val="accent5"/>
                </a:solidFill>
              </a:rPr>
              <a:t>FROM </a:t>
            </a:r>
            <a:r>
              <a:rPr lang="en-US" i="1" dirty="0" err="1">
                <a:solidFill>
                  <a:schemeClr val="accent5"/>
                </a:solidFill>
              </a:rPr>
              <a:t>communes_metrop</a:t>
            </a:r>
            <a:r>
              <a:rPr lang="en-US" i="1" dirty="0">
                <a:solidFill>
                  <a:schemeClr val="accent5"/>
                </a:solidFill>
              </a:rPr>
              <a:t> </a:t>
            </a:r>
            <a:r>
              <a:rPr lang="en-US" i="1" dirty="0">
                <a:solidFill>
                  <a:schemeClr val="accent2"/>
                </a:solidFill>
              </a:rPr>
              <a:t>WHERE </a:t>
            </a:r>
            <a:r>
              <a:rPr lang="en-US" dirty="0" err="1">
                <a:solidFill>
                  <a:schemeClr val="accent2"/>
                </a:solidFill>
              </a:rPr>
              <a:t>st_x</a:t>
            </a:r>
            <a:r>
              <a:rPr lang="en-US" dirty="0">
                <a:solidFill>
                  <a:schemeClr val="accent2"/>
                </a:solidFill>
              </a:rPr>
              <a:t>(</a:t>
            </a:r>
            <a:r>
              <a:rPr lang="en-US" dirty="0" err="1">
                <a:solidFill>
                  <a:schemeClr val="accent2"/>
                </a:solidFill>
              </a:rPr>
              <a:t>st_centroid</a:t>
            </a:r>
            <a:r>
              <a:rPr lang="en-US" dirty="0">
                <a:solidFill>
                  <a:schemeClr val="accent2"/>
                </a:solidFill>
              </a:rPr>
              <a:t>(</a:t>
            </a:r>
            <a:r>
              <a:rPr lang="en-US" i="1" dirty="0" err="1">
                <a:solidFill>
                  <a:schemeClr val="accent2"/>
                </a:solidFill>
              </a:rPr>
              <a:t>geom</a:t>
            </a:r>
            <a:r>
              <a:rPr lang="en-US" dirty="0">
                <a:solidFill>
                  <a:schemeClr val="accent2"/>
                </a:solidFill>
              </a:rPr>
              <a:t>)) &gt; 5 </a:t>
            </a:r>
            <a:r>
              <a:rPr lang="en-US" dirty="0">
                <a:solidFill>
                  <a:schemeClr val="accent1"/>
                </a:solidFill>
              </a:rPr>
              <a:t>ORDER BY </a:t>
            </a:r>
            <a:r>
              <a:rPr lang="en-US" dirty="0" err="1">
                <a:solidFill>
                  <a:schemeClr val="accent1"/>
                </a:solidFill>
              </a:rPr>
              <a:t>st_x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 err="1">
                <a:solidFill>
                  <a:schemeClr val="accent1"/>
                </a:solidFill>
              </a:rPr>
              <a:t>st_centroid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i="1" dirty="0" err="1">
                <a:solidFill>
                  <a:schemeClr val="accent1"/>
                </a:solidFill>
              </a:rPr>
              <a:t>geom</a:t>
            </a:r>
            <a:r>
              <a:rPr lang="en-US" dirty="0">
                <a:solidFill>
                  <a:schemeClr val="accent1"/>
                </a:solidFill>
              </a:rPr>
              <a:t>))</a:t>
            </a:r>
            <a:r>
              <a:rPr lang="en-US" dirty="0"/>
              <a:t> </a:t>
            </a:r>
          </a:p>
          <a:p>
            <a:r>
              <a:rPr lang="en-US" dirty="0">
                <a:solidFill>
                  <a:schemeClr val="accent2"/>
                </a:solidFill>
              </a:rPr>
              <a:t>LIMIT 1</a:t>
            </a:r>
            <a:r>
              <a:rPr lang="en-US" dirty="0"/>
              <a:t>; 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29077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13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E03800-CBD7-1CDE-DCDE-9D5291CED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requêtes de sélections - </a:t>
            </a:r>
            <a:r>
              <a:rPr lang="fr-FR" dirty="0" err="1"/>
              <a:t>aggrégations</a:t>
            </a: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724E5AB-5D34-C29A-7392-598586671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Remise à niveau SQL M2 GéoNum – Bastien CAHIER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6B89074-B84B-F35C-101B-154E9EF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7</a:t>
            </a:fld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D202FF3-A70C-5A62-1940-EE703C9B88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3175"/>
            <a:ext cx="10998200" cy="16129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sz="2000" dirty="0"/>
              <a:t>fonctions communes d’agrégation:</a:t>
            </a:r>
          </a:p>
          <a:p>
            <a:r>
              <a:rPr lang="fr-FR" sz="2000" dirty="0"/>
              <a:t>min(</a:t>
            </a:r>
            <a:r>
              <a:rPr lang="fr-FR" sz="2000" i="1" dirty="0"/>
              <a:t>col</a:t>
            </a:r>
            <a:r>
              <a:rPr lang="fr-FR" sz="2000" dirty="0"/>
              <a:t>), max(</a:t>
            </a:r>
            <a:r>
              <a:rPr lang="fr-FR" sz="2000" i="1" dirty="0"/>
              <a:t>col</a:t>
            </a:r>
            <a:r>
              <a:rPr lang="fr-FR" sz="2000" dirty="0"/>
              <a:t>), </a:t>
            </a:r>
            <a:r>
              <a:rPr lang="fr-FR" sz="2000" dirty="0" err="1"/>
              <a:t>sum</a:t>
            </a:r>
            <a:r>
              <a:rPr lang="fr-FR" sz="2000" dirty="0"/>
              <a:t>(</a:t>
            </a:r>
            <a:r>
              <a:rPr lang="fr-FR" sz="2000" i="1" dirty="0"/>
              <a:t>col</a:t>
            </a:r>
            <a:r>
              <a:rPr lang="fr-FR" sz="2000" dirty="0"/>
              <a:t>), </a:t>
            </a:r>
            <a:r>
              <a:rPr lang="fr-FR" sz="2000" dirty="0" err="1"/>
              <a:t>avg</a:t>
            </a:r>
            <a:r>
              <a:rPr lang="fr-FR" sz="2000" dirty="0"/>
              <a:t>(</a:t>
            </a:r>
            <a:r>
              <a:rPr lang="fr-FR" sz="2000" i="1" dirty="0"/>
              <a:t>col</a:t>
            </a:r>
            <a:r>
              <a:rPr lang="fr-FR" sz="2000" dirty="0"/>
              <a:t>)</a:t>
            </a:r>
          </a:p>
          <a:p>
            <a:r>
              <a:rPr lang="fr-FR" sz="2000" dirty="0" err="1"/>
              <a:t>ST_collect</a:t>
            </a:r>
            <a:r>
              <a:rPr lang="fr-FR" sz="2000" dirty="0"/>
              <a:t>(</a:t>
            </a:r>
            <a:r>
              <a:rPr lang="fr-FR" sz="2000" i="1" dirty="0"/>
              <a:t>géométrie</a:t>
            </a:r>
            <a:r>
              <a:rPr lang="fr-FR" sz="2000" dirty="0"/>
              <a:t>), ST_UNION(</a:t>
            </a:r>
            <a:r>
              <a:rPr lang="fr-FR" sz="2000" i="1" dirty="0"/>
              <a:t>géométrie</a:t>
            </a:r>
            <a:r>
              <a:rPr lang="fr-FR" sz="2000" dirty="0"/>
              <a:t>)</a:t>
            </a:r>
          </a:p>
          <a:p>
            <a:r>
              <a:rPr lang="fr-FR" sz="2000" dirty="0" err="1"/>
              <a:t>string_agg</a:t>
            </a:r>
            <a:r>
              <a:rPr lang="fr-FR" sz="2000" dirty="0"/>
              <a:t>(</a:t>
            </a:r>
            <a:r>
              <a:rPr lang="fr-FR" sz="2000" i="1" dirty="0"/>
              <a:t>col</a:t>
            </a:r>
            <a:r>
              <a:rPr lang="fr-FR" sz="2000" dirty="0"/>
              <a:t>), </a:t>
            </a:r>
            <a:r>
              <a:rPr lang="fr-FR" sz="2000" dirty="0" err="1"/>
              <a:t>array_agg</a:t>
            </a:r>
            <a:r>
              <a:rPr lang="fr-FR" sz="2000" dirty="0"/>
              <a:t>(</a:t>
            </a:r>
            <a:r>
              <a:rPr lang="fr-FR" sz="2000" i="1" dirty="0"/>
              <a:t>col</a:t>
            </a:r>
            <a:r>
              <a:rPr lang="fr-FR" sz="2000" dirty="0"/>
              <a:t>)</a:t>
            </a:r>
          </a:p>
          <a:p>
            <a:pPr marL="0" indent="0">
              <a:buNone/>
            </a:pPr>
            <a:r>
              <a:rPr lang="fr-FR" sz="2000" b="1" dirty="0">
                <a:solidFill>
                  <a:srgbClr val="FF0000"/>
                </a:solidFill>
                <a:sym typeface="Wingdings" panose="05000000000000000000" pitchFamily="2" charset="2"/>
              </a:rPr>
              <a:t> A Utiliser avec un argument d’agrégation : GROUP BY champ1, champ2</a:t>
            </a:r>
            <a:endParaRPr lang="fr-FR" sz="2000" b="1" dirty="0">
              <a:solidFill>
                <a:srgbClr val="FF0000"/>
              </a:solidFill>
            </a:endParaRPr>
          </a:p>
          <a:p>
            <a:endParaRPr lang="fr-FR" sz="2000" b="1" i="1" dirty="0">
              <a:solidFill>
                <a:srgbClr val="FF0000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2EBFCA9-3241-B65B-285F-3EC417741250}"/>
              </a:ext>
            </a:extLst>
          </p:cNvPr>
          <p:cNvSpPr txBox="1"/>
          <p:nvPr/>
        </p:nvSpPr>
        <p:spPr>
          <a:xfrm>
            <a:off x="838200" y="3325595"/>
            <a:ext cx="10799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1. Donner les précipitations mensuelles moyennes sur l’ensemble de la métropole en 2018 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0BA919F-4D69-432C-4FE7-5ABE59443F9A}"/>
              </a:ext>
            </a:extLst>
          </p:cNvPr>
          <p:cNvSpPr txBox="1"/>
          <p:nvPr/>
        </p:nvSpPr>
        <p:spPr>
          <a:xfrm>
            <a:off x="838200" y="4301615"/>
            <a:ext cx="10799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2</a:t>
            </a:r>
            <a:r>
              <a:rPr lang="fr-FR"/>
              <a:t>. 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33241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" grpId="0"/>
    </p:bld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210</TotalTime>
  <Words>605</Words>
  <Application>Microsoft Office PowerPoint</Application>
  <PresentationFormat>Grand écran</PresentationFormat>
  <Paragraphs>59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3" baseType="lpstr">
      <vt:lpstr>Aptos</vt:lpstr>
      <vt:lpstr>Arial</vt:lpstr>
      <vt:lpstr>Eras Bold ITC</vt:lpstr>
      <vt:lpstr>Eras Demi ITC</vt:lpstr>
      <vt:lpstr>Eras Medium ITC</vt:lpstr>
      <vt:lpstr>Thème Office</vt:lpstr>
      <vt:lpstr>Présentation PowerPoint</vt:lpstr>
      <vt:lpstr>Programme</vt:lpstr>
      <vt:lpstr>Jeu de données à utiliser</vt:lpstr>
      <vt:lpstr>Jeu de données à utiliser</vt:lpstr>
      <vt:lpstr>Présentation PowerPoint</vt:lpstr>
      <vt:lpstr>Les requêtes de sélections - basique</vt:lpstr>
      <vt:lpstr>Les requêtes de sélections - aggrégations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/>
  <cp:lastModifiedBy>Bastien CAHIER</cp:lastModifiedBy>
  <cp:revision>27</cp:revision>
  <dcterms:created xsi:type="dcterms:W3CDTF">2024-08-27T07:57:23Z</dcterms:created>
  <dcterms:modified xsi:type="dcterms:W3CDTF">2024-09-26T10:39:42Z</dcterms:modified>
</cp:coreProperties>
</file>