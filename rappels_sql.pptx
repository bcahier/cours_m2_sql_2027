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6"/>
  </p:notesMasterIdLst>
  <p:sldIdLst>
    <p:sldId id="282" r:id="rId2"/>
    <p:sldId id="283" r:id="rId3"/>
    <p:sldId id="286" r:id="rId4"/>
    <p:sldId id="288" r:id="rId5"/>
    <p:sldId id="284" r:id="rId6"/>
    <p:sldId id="285" r:id="rId7"/>
    <p:sldId id="301" r:id="rId8"/>
    <p:sldId id="302" r:id="rId9"/>
    <p:sldId id="303" r:id="rId10"/>
    <p:sldId id="287" r:id="rId11"/>
    <p:sldId id="289" r:id="rId12"/>
    <p:sldId id="304" r:id="rId13"/>
    <p:sldId id="290" r:id="rId14"/>
    <p:sldId id="292" r:id="rId15"/>
    <p:sldId id="291" r:id="rId16"/>
    <p:sldId id="306" r:id="rId17"/>
    <p:sldId id="307" r:id="rId18"/>
    <p:sldId id="308" r:id="rId19"/>
    <p:sldId id="293" r:id="rId20"/>
    <p:sldId id="309" r:id="rId21"/>
    <p:sldId id="310" r:id="rId22"/>
    <p:sldId id="295" r:id="rId23"/>
    <p:sldId id="311" r:id="rId24"/>
    <p:sldId id="312" r:id="rId25"/>
    <p:sldId id="299" r:id="rId26"/>
    <p:sldId id="296" r:id="rId27"/>
    <p:sldId id="297" r:id="rId28"/>
    <p:sldId id="313" r:id="rId29"/>
    <p:sldId id="314" r:id="rId30"/>
    <p:sldId id="315" r:id="rId31"/>
    <p:sldId id="298" r:id="rId32"/>
    <p:sldId id="316" r:id="rId33"/>
    <p:sldId id="317" r:id="rId34"/>
    <p:sldId id="300" r:id="rId3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275"/>
    <a:srgbClr val="853115"/>
    <a:srgbClr val="B9431D"/>
    <a:srgbClr val="A40000"/>
    <a:srgbClr val="AC9872"/>
    <a:srgbClr val="8A372D"/>
    <a:srgbClr val="D86ECC"/>
    <a:srgbClr val="3A4657"/>
    <a:srgbClr val="291D57"/>
    <a:srgbClr val="1D57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4C6B17-86D5-4FE9-8F7D-A529CA14188B}" v="8" dt="2024-09-04T14:31:11.6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Style foncé 2 - Accentuation 5/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4704C0-3584-49D6-A744-6448A76FDBBA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0080B-0C3B-454C-8483-1EE3D642E9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3521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bg>
      <p:bgPr>
        <a:gradFill>
          <a:gsLst>
            <a:gs pos="56000">
              <a:srgbClr val="1D3657"/>
            </a:gs>
            <a:gs pos="100000">
              <a:srgbClr val="8A372D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BF44F2-1007-9A7F-9762-CACD6B13F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9D28AC-C50F-D03D-679D-828878F1D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34539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4893D5-C5B5-A9EC-DD95-74BDEEE0E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41E9C9-6E61-30D7-0B47-ED1F4ED16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262295-B738-8768-6878-BD9C28312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AA3F7-AEDE-4C38-B25F-FFE3147892EB}" type="datetime1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DECAD8-3DC1-E720-B79F-8B9AA351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E08AE0-6428-D889-D705-C996F3B9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91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47C193-F2F0-98D5-1568-7B7D5F7B9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513C90-4374-1389-8671-A802537C1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9ECE74-0A37-EFD0-9DCB-3B91B6F64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3198-BE8C-415D-A13C-F016E9AAF50B}" type="datetime1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2B9E2A-C331-F806-90C9-F2F0A22A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9F906F-BD6B-321A-9C5A-F56F5869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5228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C6527-4322-82BB-ACD3-F833FAF6E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16DE24-48BB-AB71-9E17-C418D9063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EB5EFD-3C82-CCE1-2745-3E43BF776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F4F33F-53C5-2597-E06F-A30E625D6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A901-3D77-471F-AD6C-4EC034B7F44B}" type="datetime1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CCD3A6-AE66-69CE-512A-2D5C2F615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5731CA-6568-DDC0-421C-88A22E6A5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9667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EC3400-59AB-907B-28F8-9578F91AB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AAEA88-492F-38F8-1B55-098226B36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1AA73C-7FDF-7F5E-3AB9-886FD146D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D70A9A-063A-C74C-6782-92CB621AF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A8DDE1D-B249-E148-9EAA-67AC5B0C7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524D0E3-4D6A-ED29-2214-D7BFC3AB5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55AB-984D-499A-83ED-AE6325ECF617}" type="datetime1">
              <a:rPr lang="fr-FR" smtClean="0"/>
              <a:t>22/09/2026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D3C1D5C-7FF0-FD78-DE9D-A7BE4FFB9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8F50916-BEA7-AF01-94B9-B4A5E3452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4908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D416EB-FA72-6456-6017-4AA83EB0F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48A70D4-0FC7-3611-521B-DA77FA6A6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6E26A-EBD2-45F9-A981-74D7FA704F19}" type="datetime1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1A7A613-025D-1C87-350D-541895D2D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5CFE3E4-F40B-196F-E711-F4F5843B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510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863BC8C-9EE4-28B2-B919-920A2B77B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9862C-97B7-40F7-9B0D-C6F2EB253980}" type="datetime1">
              <a:rPr lang="fr-FR" smtClean="0"/>
              <a:t>22/09/2026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3F007BE-0845-70EF-D941-7A8DB07F6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A1E764-56BF-EBBC-C44A-4151B2304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917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4B5EE0-6AF1-EB66-D2DF-FF295CBF3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6D6757-4DEA-C2F8-1609-BE0A365A1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50C2901-8698-EEEC-8D7E-D00B10BA0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E3740A-AA59-2EE5-1857-7E4329D8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D2C67-42F9-46F2-A484-AF834F121E1C}" type="datetime1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145A939-B546-5B39-A34E-DC05D1D0E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168721-C8E4-73CA-2E62-C27FF0CB4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829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B24B44-34AA-D61A-2E09-11246AF9C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D3FCD3D-94ED-275B-4EFE-3223927C1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8D1269F-165A-08A5-3BF4-61548AC79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852774-3F74-4BE6-E868-D99E91283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7311-6844-47CA-9284-83835D326450}" type="datetime1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2F01D6-43C2-01D0-5996-437575073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75FFA26-FAE2-9AFC-1733-080C8A37A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5265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07650-5446-CB79-4404-BF8533EBC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D2B759D-69D5-18DA-2A48-4EA834D26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8A7177-5CF7-BE0A-49EC-EBAF33935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1ED14-0F68-4784-BA60-1800824D64BD}" type="datetime1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A98231-EC42-03CA-B7EA-4A0F64805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49A485-EB61-DD68-9A7D-A90895345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9631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6FDB24D-8E5B-736C-BC0E-DCE0A45D5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60D0614-74C3-C702-AA45-5B7C876E2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764EAB-6D21-2521-B60A-EDC2DCA0C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82D4-B8D9-4335-9FFD-1AB043307985}" type="datetime1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FDF4CA-3B68-F5DA-680A-FB86D2309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973DD2-2649-3855-FE4A-F1F7DB7B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2751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6AEF9A-8C8E-AE1C-FF72-BBF5B2A72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23854E-F636-2492-6237-CD9B6492B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23" y="645581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fld id="{E8916647-158D-4054-9FBD-23FBC90D140E}" type="datetime1">
              <a:rPr lang="fr-FR" smtClean="0"/>
              <a:pPr/>
              <a:t>22/09/2026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A399A6-0C35-F964-BD52-5C924747F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02393" y="645581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Remise à niveau SQL M2 GéoNum – Bastien CAHIER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24E41E-D246-1CF8-60A4-801310F78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55819"/>
            <a:ext cx="2387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fld id="{27C6CCC6-2BE5-4E42-96A4-D1E8E81A3D8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BB653-0C19-7CB4-ABD1-67AE5D30D388}"/>
              </a:ext>
            </a:extLst>
          </p:cNvPr>
          <p:cNvSpPr/>
          <p:nvPr userDrawn="1"/>
        </p:nvSpPr>
        <p:spPr>
          <a:xfrm>
            <a:off x="-108155" y="-88490"/>
            <a:ext cx="12388645" cy="976257"/>
          </a:xfrm>
          <a:prstGeom prst="rect">
            <a:avLst/>
          </a:prstGeom>
          <a:gradFill flip="none" rotWithShape="1">
            <a:gsLst>
              <a:gs pos="66000">
                <a:srgbClr val="1D3657"/>
              </a:gs>
              <a:gs pos="100000">
                <a:srgbClr val="8A372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+mn-lt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DAB6E92-4999-9435-D1F8-F37533EA28B7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9" y="0"/>
            <a:ext cx="1341349" cy="869194"/>
          </a:xfrm>
          <a:prstGeom prst="rect">
            <a:avLst/>
          </a:prstGeom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50540DA-1943-F5C4-B5B6-8B61250D6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1282" y="37056"/>
            <a:ext cx="6789931" cy="7950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pic>
        <p:nvPicPr>
          <p:cNvPr id="10" name="Image 9" descr="Une image contenant texte, Graphique, Police, logo&#10;&#10;Description générée automatiquement">
            <a:extLst>
              <a:ext uri="{FF2B5EF4-FFF2-40B4-BE49-F238E27FC236}">
                <a16:creationId xmlns:a16="http://schemas.microsoft.com/office/drawing/2014/main" id="{045F4FA3-B30E-D024-B785-12E1E55C63B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821" y="128306"/>
            <a:ext cx="612580" cy="612580"/>
          </a:xfrm>
          <a:prstGeom prst="rect">
            <a:avLst/>
          </a:prstGeom>
        </p:spPr>
      </p:pic>
      <p:pic>
        <p:nvPicPr>
          <p:cNvPr id="12" name="Image 11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5DB81E4B-385B-5532-83A8-8E8D503219CC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304" y="190048"/>
            <a:ext cx="878283" cy="48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211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cahier/cours_m2_sql_2027.gi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ostgresql.fr/17/tutorial-agg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ostgresql.fr/17/tutorial-agg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ostgresql.fr/17/tutorial-agg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823D37F1-F02D-BC45-7781-0208F2AB3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4073"/>
            <a:ext cx="9144000" cy="2031477"/>
          </a:xfrm>
        </p:spPr>
        <p:txBody>
          <a:bodyPr>
            <a:normAutofit fontScale="77500" lnSpcReduction="20000"/>
          </a:bodyPr>
          <a:lstStyle/>
          <a:p>
            <a:r>
              <a:rPr lang="fr-FR" sz="2900" b="1" dirty="0">
                <a:latin typeface="+mn-lt"/>
              </a:rPr>
              <a:t>Master II </a:t>
            </a:r>
            <a:r>
              <a:rPr lang="fr-FR" sz="2900" b="1" dirty="0" err="1">
                <a:latin typeface="+mn-lt"/>
              </a:rPr>
              <a:t>GéoNum</a:t>
            </a:r>
            <a:r>
              <a:rPr lang="fr-FR" sz="2900" b="1" dirty="0">
                <a:latin typeface="+mn-lt"/>
              </a:rPr>
              <a:t>, Promotion 2026</a:t>
            </a:r>
          </a:p>
          <a:p>
            <a:endParaRPr lang="fr-FR" sz="2900" b="1" dirty="0">
              <a:latin typeface="+mn-lt"/>
            </a:endParaRPr>
          </a:p>
          <a:p>
            <a:pPr algn="ctr"/>
            <a:r>
              <a:rPr lang="fr-FR" dirty="0">
                <a:latin typeface="+mn-lt"/>
              </a:rPr>
              <a:t>Université Lyon – Campus Porte des Alpes</a:t>
            </a:r>
          </a:p>
          <a:p>
            <a:r>
              <a:rPr lang="fr-FR" sz="2400">
                <a:latin typeface="+mn-lt"/>
              </a:rPr>
              <a:t>24/09/2026</a:t>
            </a:r>
            <a:endParaRPr lang="fr-FR" sz="2400" dirty="0">
              <a:latin typeface="+mn-lt"/>
            </a:endParaRPr>
          </a:p>
          <a:p>
            <a:endParaRPr lang="fr-FR" dirty="0">
              <a:latin typeface="+mn-lt"/>
            </a:endParaRPr>
          </a:p>
          <a:p>
            <a:pPr algn="ctr"/>
            <a:r>
              <a:rPr lang="fr-FR" sz="2400" dirty="0">
                <a:latin typeface="+mn-lt"/>
              </a:rPr>
              <a:t>Bastien CAHIER – </a:t>
            </a:r>
            <a:r>
              <a:rPr lang="fr-FR" dirty="0">
                <a:latin typeface="+mn-lt"/>
              </a:rPr>
              <a:t>MCP Data Solutions</a:t>
            </a:r>
            <a:endParaRPr lang="fr-FR" sz="2400" dirty="0">
              <a:latin typeface="+mn-lt"/>
            </a:endParaRPr>
          </a:p>
          <a:p>
            <a:pPr algn="ctr"/>
            <a:endParaRPr lang="fr-FR" dirty="0">
              <a:latin typeface="+mn-l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E2B2C03-D6F1-4950-6836-FC9CCDAD4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114" y="907128"/>
            <a:ext cx="2880356" cy="1855122"/>
          </a:xfrm>
          <a:prstGeom prst="rect">
            <a:avLst/>
          </a:prstGeom>
        </p:spPr>
      </p:pic>
      <p:pic>
        <p:nvPicPr>
          <p:cNvPr id="5" name="Image 4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428FCFA2-E9B6-EEEE-7869-347943E065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75" y="1232677"/>
            <a:ext cx="2180393" cy="1214214"/>
          </a:xfrm>
          <a:prstGeom prst="rect">
            <a:avLst/>
          </a:prstGeom>
        </p:spPr>
      </p:pic>
      <p:pic>
        <p:nvPicPr>
          <p:cNvPr id="7" name="Image 6" descr="Une image contenant texte, Graphique, Police, logo&#10;&#10;Description générée automatiquement">
            <a:extLst>
              <a:ext uri="{FF2B5EF4-FFF2-40B4-BE49-F238E27FC236}">
                <a16:creationId xmlns:a16="http://schemas.microsoft.com/office/drawing/2014/main" id="{586FBE0E-4C30-F6C2-2066-D8E5350EFB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883" y="1232677"/>
            <a:ext cx="1218934" cy="121893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6D43027-6008-1465-B3D5-82D0B46037F1}"/>
              </a:ext>
            </a:extLst>
          </p:cNvPr>
          <p:cNvSpPr txBox="1"/>
          <p:nvPr/>
        </p:nvSpPr>
        <p:spPr>
          <a:xfrm>
            <a:off x="3638550" y="3170833"/>
            <a:ext cx="49149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600" dirty="0">
                <a:solidFill>
                  <a:schemeClr val="bg1"/>
                </a:solidFill>
              </a:rPr>
              <a:t>Rappels SQL, </a:t>
            </a:r>
            <a:r>
              <a:rPr lang="fr-FR" sz="2600" dirty="0" err="1">
                <a:solidFill>
                  <a:schemeClr val="bg1"/>
                </a:solidFill>
              </a:rPr>
              <a:t>PostgresSQL</a:t>
            </a:r>
            <a:r>
              <a:rPr lang="fr-FR" sz="2600" dirty="0">
                <a:solidFill>
                  <a:schemeClr val="bg1"/>
                </a:solidFill>
              </a:rPr>
              <a:t> &amp; </a:t>
            </a:r>
            <a:r>
              <a:rPr lang="fr-FR" sz="2600" dirty="0" err="1">
                <a:solidFill>
                  <a:schemeClr val="bg1"/>
                </a:solidFill>
              </a:rPr>
              <a:t>PostGIS</a:t>
            </a:r>
            <a:endParaRPr lang="fr-FR" sz="2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468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+mn-lt"/>
              </a:rPr>
              <a:t>Programme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latin typeface="+mn-lt"/>
              </a:rPr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>
                <a:latin typeface="+mn-lt"/>
              </a:rPr>
              <a:t>2</a:t>
            </a:fld>
            <a:endParaRPr lang="fr-FR">
              <a:latin typeface="+mn-lt"/>
            </a:endParaRP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00382BF2-E18C-2551-899B-22E244B10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413"/>
            <a:ext cx="10515600" cy="4800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+mn-lt"/>
              </a:rPr>
              <a:t>01 module de 3H : 24 septembre.</a:t>
            </a:r>
          </a:p>
          <a:p>
            <a:endParaRPr lang="fr-FR" dirty="0">
              <a:latin typeface="+mn-lt"/>
            </a:endParaRPr>
          </a:p>
          <a:p>
            <a:pPr marL="457200" lvl="1" indent="0">
              <a:buNone/>
            </a:pPr>
            <a:r>
              <a:rPr lang="fr-FR" dirty="0">
                <a:latin typeface="+mn-lt"/>
              </a:rPr>
              <a:t>1. requêtes de sélection</a:t>
            </a:r>
          </a:p>
          <a:p>
            <a:pPr marL="914400" lvl="2" indent="0">
              <a:buNone/>
            </a:pPr>
            <a:r>
              <a:rPr lang="fr-FR" dirty="0">
                <a:latin typeface="+mn-lt"/>
              </a:rPr>
              <a:t>A. Simples</a:t>
            </a:r>
          </a:p>
          <a:p>
            <a:pPr marL="914400" lvl="2" indent="0">
              <a:buNone/>
            </a:pPr>
            <a:r>
              <a:rPr lang="fr-FR" dirty="0">
                <a:latin typeface="+mn-lt"/>
              </a:rPr>
              <a:t>B. Agrégats</a:t>
            </a:r>
          </a:p>
          <a:p>
            <a:pPr marL="914400" lvl="2" indent="0">
              <a:buNone/>
            </a:pPr>
            <a:r>
              <a:rPr lang="fr-FR" dirty="0">
                <a:latin typeface="+mn-lt"/>
              </a:rPr>
              <a:t>C. Jointures attributaires</a:t>
            </a:r>
          </a:p>
          <a:p>
            <a:pPr marL="914400" lvl="2" indent="0">
              <a:buNone/>
            </a:pPr>
            <a:r>
              <a:rPr lang="fr-FR" dirty="0">
                <a:latin typeface="+mn-lt"/>
              </a:rPr>
              <a:t>D. Jointures spatiales</a:t>
            </a:r>
          </a:p>
          <a:p>
            <a:pPr marL="914400" lvl="2" indent="0">
              <a:buNone/>
            </a:pPr>
            <a:r>
              <a:rPr lang="fr-FR" dirty="0">
                <a:latin typeface="+mn-lt"/>
              </a:rPr>
              <a:t>E. Requêtes imbriquées</a:t>
            </a:r>
          </a:p>
          <a:p>
            <a:pPr marL="457200" lvl="1" indent="0">
              <a:buNone/>
            </a:pPr>
            <a:r>
              <a:rPr lang="fr-FR" dirty="0">
                <a:latin typeface="+mn-lt"/>
              </a:rPr>
              <a:t>2. Requêtes d’insertion, mise à jour et suppression</a:t>
            </a:r>
          </a:p>
          <a:p>
            <a:pPr marL="914400" lvl="2" indent="0">
              <a:buNone/>
            </a:pPr>
            <a:r>
              <a:rPr lang="fr-FR" dirty="0"/>
              <a:t>A. Insertions</a:t>
            </a:r>
          </a:p>
          <a:p>
            <a:pPr marL="914400" lvl="2" indent="0">
              <a:buNone/>
            </a:pPr>
            <a:r>
              <a:rPr lang="fr-FR" dirty="0"/>
              <a:t>B. Mise à jour</a:t>
            </a:r>
          </a:p>
          <a:p>
            <a:pPr marL="914400" lvl="2" indent="0">
              <a:buNone/>
            </a:pPr>
            <a:r>
              <a:rPr lang="fr-FR" dirty="0"/>
              <a:t>C. Suppression</a:t>
            </a: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79086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+mn-lt"/>
              </a:rPr>
              <a:t>Jeu de données à utiliser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latin typeface="+mn-lt"/>
              </a:rPr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>
                <a:latin typeface="+mn-lt"/>
              </a:rPr>
              <a:t>3</a:t>
            </a:fld>
            <a:endParaRPr lang="fr-FR">
              <a:latin typeface="+mn-lt"/>
            </a:endParaRP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EADBB2A-C17C-A2C6-4161-52AAEC194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>
                <a:latin typeface="+mn-lt"/>
              </a:rPr>
              <a:t>Se rendre à l’adresse </a:t>
            </a:r>
            <a:r>
              <a:rPr lang="fr-FR" sz="2400" dirty="0" err="1">
                <a:latin typeface="+mn-lt"/>
              </a:rPr>
              <a:t>gitHub</a:t>
            </a:r>
            <a:r>
              <a:rPr lang="fr-FR" sz="2400" dirty="0">
                <a:latin typeface="+mn-lt"/>
              </a:rPr>
              <a:t> : </a:t>
            </a:r>
            <a:r>
              <a:rPr lang="fr-FR" dirty="0">
                <a:latin typeface="+mn-lt"/>
                <a:hlinkClick r:id="rId2"/>
              </a:rPr>
              <a:t>https://github.com/bcahier/cours_m2_sql_2027.git</a:t>
            </a:r>
            <a:endParaRPr lang="fr-FR" altLang="fr-FR" sz="2400" dirty="0">
              <a:latin typeface="+mn-lt"/>
            </a:endParaRPr>
          </a:p>
          <a:p>
            <a:r>
              <a:rPr lang="fr-FR" altLang="fr-FR" sz="2400" dirty="0">
                <a:latin typeface="+mn-lt"/>
              </a:rPr>
              <a:t>Télécharger l’archive du repository (ou cloner le git…), </a:t>
            </a:r>
          </a:p>
          <a:p>
            <a:r>
              <a:rPr lang="fr-FR" altLang="fr-FR" sz="2400" dirty="0">
                <a:latin typeface="+mn-lt"/>
              </a:rPr>
              <a:t>Décompresser l’archive, </a:t>
            </a:r>
          </a:p>
          <a:p>
            <a:r>
              <a:rPr lang="fr-FR" altLang="fr-FR" sz="2400" dirty="0">
                <a:latin typeface="+mn-lt"/>
              </a:rPr>
              <a:t>Suivre la procédure du fichier importer_la_bdd.</a:t>
            </a:r>
            <a:r>
              <a:rPr lang="fr-FR" altLang="fr-FR" sz="2400" dirty="0"/>
              <a:t>md</a:t>
            </a:r>
            <a:r>
              <a:rPr lang="fr-FR" altLang="fr-FR" sz="2400" dirty="0">
                <a:latin typeface="+mn-lt"/>
              </a:rPr>
              <a:t> </a:t>
            </a:r>
            <a:endParaRPr lang="fr-FR" alt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2614780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+mn-lt"/>
              </a:rPr>
              <a:t>Jeu de données à utiliser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latin typeface="+mn-lt"/>
              </a:rPr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>
                <a:latin typeface="+mn-lt"/>
              </a:rPr>
              <a:t>4</a:t>
            </a:fld>
            <a:endParaRPr lang="fr-FR">
              <a:latin typeface="+mn-lt"/>
            </a:endParaRP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EADBB2A-C17C-A2C6-4161-52AAEC194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+mn-lt"/>
              </a:rPr>
              <a:t>Base de données du projet </a:t>
            </a:r>
            <a:r>
              <a:rPr lang="fr-FR" sz="2400" dirty="0" err="1">
                <a:latin typeface="+mn-lt"/>
              </a:rPr>
              <a:t>géonumérique</a:t>
            </a:r>
            <a:r>
              <a:rPr lang="fr-FR" sz="2400" dirty="0">
                <a:latin typeface="+mn-lt"/>
              </a:rPr>
              <a:t> CUMUL’O (Promotion 2019/2020) (L. </a:t>
            </a:r>
            <a:r>
              <a:rPr lang="fr-FR" sz="2400" dirty="0" err="1">
                <a:latin typeface="+mn-lt"/>
              </a:rPr>
              <a:t>Gonon</a:t>
            </a:r>
            <a:r>
              <a:rPr lang="fr-FR" sz="2400" dirty="0">
                <a:latin typeface="+mn-lt"/>
              </a:rPr>
              <a:t>, B. Cahier, D. </a:t>
            </a:r>
            <a:r>
              <a:rPr lang="fr-FR" sz="2400" dirty="0" err="1">
                <a:latin typeface="+mn-lt"/>
              </a:rPr>
              <a:t>Alindawa</a:t>
            </a:r>
            <a:r>
              <a:rPr lang="fr-FR" sz="2400" dirty="0">
                <a:latin typeface="+mn-lt"/>
              </a:rPr>
              <a:t>, B. Blanc) (sources : Grand Lyon / </a:t>
            </a:r>
            <a:r>
              <a:rPr lang="fr-FR" sz="2400" dirty="0" err="1">
                <a:latin typeface="+mn-lt"/>
              </a:rPr>
              <a:t>insee</a:t>
            </a:r>
            <a:r>
              <a:rPr lang="fr-FR" sz="2400" dirty="0">
                <a:latin typeface="+mn-lt"/>
              </a:rPr>
              <a:t> 2020)</a:t>
            </a:r>
          </a:p>
          <a:p>
            <a:pPr marL="0" indent="0">
              <a:buNone/>
            </a:pPr>
            <a:endParaRPr lang="fr-FR" sz="2400" dirty="0">
              <a:latin typeface="+mn-lt"/>
            </a:endParaRPr>
          </a:p>
          <a:p>
            <a:pPr marL="0" indent="0">
              <a:buNone/>
            </a:pPr>
            <a:r>
              <a:rPr lang="fr-FR" sz="2400" dirty="0">
                <a:latin typeface="+mn-lt"/>
                <a:sym typeface="Wingdings" panose="05000000000000000000" pitchFamily="2" charset="2"/>
              </a:rPr>
              <a:t>- table </a:t>
            </a:r>
            <a:r>
              <a:rPr lang="fr-FR" sz="2400" i="1" dirty="0">
                <a:latin typeface="+mn-lt"/>
                <a:sym typeface="Wingdings" panose="05000000000000000000" pitchFamily="2" charset="2"/>
              </a:rPr>
              <a:t>capteurs </a:t>
            </a:r>
            <a:r>
              <a:rPr lang="fr-FR" sz="2400" dirty="0">
                <a:latin typeface="+mn-lt"/>
                <a:sym typeface="Wingdings" panose="05000000000000000000" pitchFamily="2" charset="2"/>
              </a:rPr>
              <a:t> : </a:t>
            </a:r>
            <a:r>
              <a:rPr lang="fr-FR" sz="2400" b="1" dirty="0">
                <a:latin typeface="+mn-lt"/>
                <a:sym typeface="Wingdings" panose="05000000000000000000" pitchFamily="2" charset="2"/>
              </a:rPr>
              <a:t>nom, adresse, et position</a:t>
            </a:r>
            <a:r>
              <a:rPr lang="fr-FR" sz="2400" dirty="0">
                <a:latin typeface="+mn-lt"/>
                <a:sym typeface="Wingdings" panose="05000000000000000000" pitchFamily="2" charset="2"/>
              </a:rPr>
              <a:t> des capteurs de précipitations de la métropole du Grand Lyon</a:t>
            </a:r>
          </a:p>
          <a:p>
            <a:pPr marL="0" indent="0">
              <a:buNone/>
            </a:pPr>
            <a:r>
              <a:rPr lang="fr-FR" sz="2400" dirty="0">
                <a:latin typeface="+mn-lt"/>
                <a:sym typeface="Wingdings" panose="05000000000000000000" pitchFamily="2" charset="2"/>
              </a:rPr>
              <a:t>- table </a:t>
            </a:r>
            <a:r>
              <a:rPr lang="fr-FR" sz="2400" i="1" dirty="0" err="1">
                <a:latin typeface="+mn-lt"/>
                <a:sym typeface="Wingdings" panose="05000000000000000000" pitchFamily="2" charset="2"/>
              </a:rPr>
              <a:t>releves</a:t>
            </a:r>
            <a:r>
              <a:rPr lang="fr-FR" sz="2400" i="1" dirty="0">
                <a:latin typeface="+mn-lt"/>
                <a:sym typeface="Wingdings" panose="05000000000000000000" pitchFamily="2" charset="2"/>
              </a:rPr>
              <a:t>  </a:t>
            </a:r>
            <a:r>
              <a:rPr lang="fr-FR" sz="2400" dirty="0">
                <a:latin typeface="+mn-lt"/>
                <a:sym typeface="Wingdings" panose="05000000000000000000" pitchFamily="2" charset="2"/>
              </a:rPr>
              <a:t>: relevés de précipitation mensuelle (mm) pour chaque capteur</a:t>
            </a:r>
          </a:p>
          <a:p>
            <a:pPr marL="0" indent="0">
              <a:buNone/>
            </a:pPr>
            <a:r>
              <a:rPr lang="fr-FR" sz="2400" dirty="0">
                <a:latin typeface="+mn-lt"/>
                <a:sym typeface="Wingdings" panose="05000000000000000000" pitchFamily="2" charset="2"/>
              </a:rPr>
              <a:t>- table </a:t>
            </a:r>
            <a:r>
              <a:rPr lang="fr-FR" sz="2400" i="1" dirty="0">
                <a:latin typeface="+mn-lt"/>
                <a:sym typeface="Wingdings" panose="05000000000000000000" pitchFamily="2" charset="2"/>
              </a:rPr>
              <a:t>pop_200</a:t>
            </a:r>
            <a:r>
              <a:rPr lang="fr-FR" sz="2400" dirty="0">
                <a:latin typeface="+mn-lt"/>
                <a:sym typeface="Wingdings" panose="05000000000000000000" pitchFamily="2" charset="2"/>
              </a:rPr>
              <a:t>  : statistiques de la population par carreau INSEE</a:t>
            </a:r>
          </a:p>
          <a:p>
            <a:pPr marL="0" indent="0">
              <a:buNone/>
            </a:pPr>
            <a:r>
              <a:rPr lang="fr-FR" sz="2400" i="1" dirty="0">
                <a:latin typeface="+mn-lt"/>
                <a:sym typeface="Wingdings" panose="05000000000000000000" pitchFamily="2" charset="2"/>
              </a:rPr>
              <a:t>- </a:t>
            </a:r>
            <a:r>
              <a:rPr lang="fr-FR" sz="2400" dirty="0">
                <a:latin typeface="+mn-lt"/>
                <a:sym typeface="Wingdings" panose="05000000000000000000" pitchFamily="2" charset="2"/>
              </a:rPr>
              <a:t>table </a:t>
            </a:r>
            <a:r>
              <a:rPr lang="fr-FR" sz="2400" dirty="0" err="1">
                <a:latin typeface="+mn-lt"/>
                <a:sym typeface="Wingdings" panose="05000000000000000000" pitchFamily="2" charset="2"/>
              </a:rPr>
              <a:t>communes_metrop</a:t>
            </a:r>
            <a:r>
              <a:rPr lang="fr-FR" sz="2400" dirty="0">
                <a:latin typeface="+mn-lt"/>
                <a:sym typeface="Wingdings" panose="05000000000000000000" pitchFamily="2" charset="2"/>
              </a:rPr>
              <a:t> : communes de la métropole de Lyon.</a:t>
            </a:r>
            <a:endParaRPr lang="fr-FR" sz="2400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1901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CFA16849-9C77-B4DD-F3F3-A222258E0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92829"/>
            <a:ext cx="9144000" cy="2364971"/>
          </a:xfrm>
        </p:spPr>
        <p:txBody>
          <a:bodyPr/>
          <a:lstStyle/>
          <a:p>
            <a:r>
              <a:rPr lang="fr-FR" dirty="0">
                <a:latin typeface="+mn-lt"/>
              </a:rPr>
              <a:t>I. Les requêtes de sélection</a:t>
            </a:r>
          </a:p>
        </p:txBody>
      </p:sp>
    </p:spTree>
    <p:extLst>
      <p:ext uri="{BB962C8B-B14F-4D97-AF65-F5344CB8AC3E}">
        <p14:creationId xmlns:p14="http://schemas.microsoft.com/office/powerpoint/2010/main" val="2473323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- basique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6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D202FF3-A70C-5A62-1940-EE703C9B8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977"/>
            <a:ext cx="10998200" cy="917575"/>
          </a:xfrm>
        </p:spPr>
        <p:txBody>
          <a:bodyPr/>
          <a:lstStyle/>
          <a:p>
            <a:pPr marL="0" indent="0">
              <a:buNone/>
            </a:pPr>
            <a:r>
              <a:rPr lang="fr-FR" sz="2000" dirty="0">
                <a:solidFill>
                  <a:schemeClr val="accent3"/>
                </a:solidFill>
                <a:latin typeface="Consolas" panose="020B0609020204030204" pitchFamily="49" charset="0"/>
              </a:rPr>
              <a:t>SELECT </a:t>
            </a:r>
            <a:r>
              <a:rPr lang="fr-FR" sz="2000" i="1" dirty="0">
                <a:solidFill>
                  <a:schemeClr val="accent3"/>
                </a:solidFill>
                <a:latin typeface="Consolas" panose="020B0609020204030204" pitchFamily="49" charset="0"/>
              </a:rPr>
              <a:t>champ(s)  </a:t>
            </a:r>
            <a:r>
              <a:rPr lang="fr-FR" sz="2000" dirty="0">
                <a:solidFill>
                  <a:schemeClr val="accent5"/>
                </a:solidFill>
                <a:latin typeface="Consolas" panose="020B0609020204030204" pitchFamily="49" charset="0"/>
              </a:rPr>
              <a:t>FROM </a:t>
            </a:r>
            <a:r>
              <a:rPr lang="fr-FR" sz="2000" i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tablename</a:t>
            </a:r>
            <a:r>
              <a:rPr lang="fr-FR" sz="2000" i="1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>
                <a:solidFill>
                  <a:schemeClr val="accent2"/>
                </a:solidFill>
                <a:latin typeface="Consolas" panose="020B0609020204030204" pitchFamily="49" charset="0"/>
              </a:rPr>
              <a:t>[WHERE </a:t>
            </a:r>
            <a:r>
              <a:rPr lang="fr-FR" sz="2000" i="1" dirty="0">
                <a:solidFill>
                  <a:schemeClr val="accent2"/>
                </a:solidFill>
                <a:latin typeface="Consolas" panose="020B0609020204030204" pitchFamily="49" charset="0"/>
              </a:rPr>
              <a:t>condition(s)</a:t>
            </a:r>
            <a:r>
              <a:rPr lang="fr-FR" sz="2000" dirty="0">
                <a:solidFill>
                  <a:schemeClr val="accent2"/>
                </a:solidFill>
                <a:latin typeface="Consolas" panose="020B0609020204030204" pitchFamily="49" charset="0"/>
              </a:rPr>
              <a:t>]</a:t>
            </a:r>
            <a:r>
              <a:rPr lang="fr-FR" sz="2000" i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>
                <a:solidFill>
                  <a:schemeClr val="accent1"/>
                </a:solidFill>
                <a:latin typeface="Consolas" panose="020B0609020204030204" pitchFamily="49" charset="0"/>
              </a:rPr>
              <a:t>[ORDER BY </a:t>
            </a:r>
            <a:r>
              <a:rPr lang="fr-FR" sz="2000" i="1" dirty="0">
                <a:solidFill>
                  <a:schemeClr val="accent1"/>
                </a:solidFill>
                <a:latin typeface="Consolas" panose="020B0609020204030204" pitchFamily="49" charset="0"/>
              </a:rPr>
              <a:t>champ(s)</a:t>
            </a:r>
            <a:r>
              <a:rPr lang="fr-FR" sz="2000" dirty="0">
                <a:solidFill>
                  <a:schemeClr val="accent1"/>
                </a:solidFill>
                <a:latin typeface="Consolas" panose="020B0609020204030204" pitchFamily="49" charset="0"/>
              </a:rPr>
              <a:t>] </a:t>
            </a:r>
            <a:r>
              <a:rPr lang="fr-FR" sz="2000" dirty="0">
                <a:solidFill>
                  <a:schemeClr val="accent2"/>
                </a:solidFill>
                <a:latin typeface="Consolas" panose="020B0609020204030204" pitchFamily="49" charset="0"/>
              </a:rPr>
              <a:t>[LIMIT</a:t>
            </a:r>
            <a:r>
              <a:rPr lang="fr-FR" sz="2000" i="1" dirty="0">
                <a:solidFill>
                  <a:schemeClr val="accent2"/>
                </a:solidFill>
                <a:latin typeface="Consolas" panose="020B0609020204030204" pitchFamily="49" charset="0"/>
              </a:rPr>
              <a:t> value</a:t>
            </a:r>
            <a:r>
              <a:rPr lang="fr-FR" sz="2000" dirty="0">
                <a:solidFill>
                  <a:schemeClr val="accent2"/>
                </a:solidFill>
                <a:latin typeface="Consolas" panose="020B0609020204030204" pitchFamily="49" charset="0"/>
              </a:rPr>
              <a:t>]</a:t>
            </a:r>
            <a:r>
              <a:rPr lang="fr-FR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endParaRPr lang="fr-FR" sz="2000" b="1" i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724E1C8-43BF-15B4-8EE6-509946E111BB}"/>
              </a:ext>
            </a:extLst>
          </p:cNvPr>
          <p:cNvSpPr txBox="1"/>
          <p:nvPr/>
        </p:nvSpPr>
        <p:spPr>
          <a:xfrm>
            <a:off x="605971" y="2028825"/>
            <a:ext cx="10799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1. sélectionner les capteurs (table </a:t>
            </a:r>
            <a:r>
              <a:rPr lang="fr-FR" i="1" dirty="0"/>
              <a:t>capteurs</a:t>
            </a:r>
            <a:r>
              <a:rPr lang="fr-FR" dirty="0"/>
              <a:t>, champs </a:t>
            </a:r>
            <a:r>
              <a:rPr lang="fr-FR" i="1" dirty="0"/>
              <a:t>nom</a:t>
            </a:r>
            <a:r>
              <a:rPr lang="fr-FR" dirty="0"/>
              <a:t> et </a:t>
            </a:r>
            <a:r>
              <a:rPr lang="fr-FR" i="1" dirty="0"/>
              <a:t>adresse</a:t>
            </a:r>
            <a:r>
              <a:rPr lang="fr-FR" dirty="0"/>
              <a:t>) positionnés dans la ville de </a:t>
            </a:r>
            <a:r>
              <a:rPr lang="fr-FR" b="1" dirty="0"/>
              <a:t>Lyon</a:t>
            </a:r>
            <a:r>
              <a:rPr lang="fr-FR" dirty="0"/>
              <a:t> (champ </a:t>
            </a:r>
            <a:r>
              <a:rPr lang="fr-FR" i="1" dirty="0"/>
              <a:t>adresse</a:t>
            </a:r>
            <a:r>
              <a:rPr lang="fr-FR" dirty="0"/>
              <a:t>), et triés par </a:t>
            </a:r>
            <a:r>
              <a:rPr lang="fr-FR" i="1" dirty="0"/>
              <a:t>nom</a:t>
            </a:r>
            <a:r>
              <a:rPr lang="fr-FR" dirty="0"/>
              <a:t> (Z-A)</a:t>
            </a:r>
          </a:p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F37AEAF-5209-BCFD-DF0B-13E9AE9B3098}"/>
              </a:ext>
            </a:extLst>
          </p:cNvPr>
          <p:cNvSpPr txBox="1"/>
          <p:nvPr/>
        </p:nvSpPr>
        <p:spPr>
          <a:xfrm>
            <a:off x="605971" y="3321951"/>
            <a:ext cx="10799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2. Sélectionner le nombre de carreaux de la métropole (table </a:t>
            </a:r>
            <a:r>
              <a:rPr lang="fr-FR" i="1" dirty="0"/>
              <a:t>pop_</a:t>
            </a:r>
            <a:r>
              <a:rPr lang="fr-FR" dirty="0"/>
              <a:t>200) ayant une proportion de ménages en maison (</a:t>
            </a:r>
            <a:r>
              <a:rPr lang="fr-FR" i="1" dirty="0" err="1"/>
              <a:t>men_mais</a:t>
            </a:r>
            <a:r>
              <a:rPr lang="fr-FR" dirty="0"/>
              <a:t>) </a:t>
            </a:r>
            <a:r>
              <a:rPr lang="fr-FR" b="1" dirty="0"/>
              <a:t>&gt; 85% OU &lt; 15 % </a:t>
            </a:r>
          </a:p>
          <a:p>
            <a:r>
              <a:rPr lang="fr-FR" dirty="0"/>
              <a:t>(total = ménages collectifs </a:t>
            </a:r>
            <a:r>
              <a:rPr lang="fr-FR" i="1" dirty="0" err="1"/>
              <a:t>men_coll</a:t>
            </a:r>
            <a:r>
              <a:rPr lang="fr-FR" i="1" dirty="0"/>
              <a:t> </a:t>
            </a:r>
            <a:r>
              <a:rPr lang="fr-FR" dirty="0"/>
              <a:t>+ ménages en maison </a:t>
            </a:r>
            <a:r>
              <a:rPr lang="fr-FR" i="1" dirty="0" err="1"/>
              <a:t>men_mais</a:t>
            </a:r>
            <a:r>
              <a:rPr lang="fr-FR" dirty="0"/>
              <a:t>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2EBFCA9-3241-B65B-285F-3EC417741250}"/>
              </a:ext>
            </a:extLst>
          </p:cNvPr>
          <p:cNvSpPr txBox="1"/>
          <p:nvPr/>
        </p:nvSpPr>
        <p:spPr>
          <a:xfrm>
            <a:off x="605971" y="4940841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3. </a:t>
            </a:r>
            <a:r>
              <a:rPr lang="fr-FR" u="sng" dirty="0"/>
              <a:t>Requête </a:t>
            </a:r>
            <a:r>
              <a:rPr lang="fr-FR" u="sng" dirty="0" err="1"/>
              <a:t>geo</a:t>
            </a:r>
            <a:r>
              <a:rPr lang="fr-FR" u="sng" dirty="0"/>
              <a:t> </a:t>
            </a:r>
            <a:r>
              <a:rPr lang="fr-FR" dirty="0"/>
              <a:t>Sélectionner le nom, latitude et longitude de la commune (table </a:t>
            </a:r>
            <a:r>
              <a:rPr lang="fr-FR" i="1" dirty="0" err="1"/>
              <a:t>communes_metrop</a:t>
            </a:r>
            <a:r>
              <a:rPr lang="fr-FR" dirty="0"/>
              <a:t>, champs </a:t>
            </a:r>
            <a:r>
              <a:rPr lang="fr-FR" i="1" dirty="0"/>
              <a:t>nom &amp; </a:t>
            </a:r>
            <a:r>
              <a:rPr lang="fr-FR" i="1" dirty="0" err="1"/>
              <a:t>geom</a:t>
            </a:r>
            <a:r>
              <a:rPr lang="fr-FR" dirty="0"/>
              <a:t>) dont le centre est à le plus proche à l'Est du 5è méridien. </a:t>
            </a:r>
          </a:p>
        </p:txBody>
      </p:sp>
    </p:spTree>
    <p:extLst>
      <p:ext uri="{BB962C8B-B14F-4D97-AF65-F5344CB8AC3E}">
        <p14:creationId xmlns:p14="http://schemas.microsoft.com/office/powerpoint/2010/main" val="422907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- basique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7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D202FF3-A70C-5A62-1940-EE703C9B8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977"/>
            <a:ext cx="10998200" cy="917575"/>
          </a:xfrm>
        </p:spPr>
        <p:txBody>
          <a:bodyPr/>
          <a:lstStyle/>
          <a:p>
            <a:pPr marL="0" indent="0">
              <a:buNone/>
            </a:pPr>
            <a:r>
              <a:rPr lang="fr-FR" sz="2000" dirty="0">
                <a:solidFill>
                  <a:schemeClr val="accent3"/>
                </a:solidFill>
                <a:latin typeface="Consolas" panose="020B0609020204030204" pitchFamily="49" charset="0"/>
              </a:rPr>
              <a:t>SELECT </a:t>
            </a:r>
            <a:r>
              <a:rPr lang="fr-FR" sz="2000" i="1" dirty="0">
                <a:solidFill>
                  <a:schemeClr val="accent3"/>
                </a:solidFill>
                <a:latin typeface="Consolas" panose="020B0609020204030204" pitchFamily="49" charset="0"/>
              </a:rPr>
              <a:t>champ(s)  </a:t>
            </a:r>
            <a:r>
              <a:rPr lang="fr-FR" sz="2000" dirty="0">
                <a:solidFill>
                  <a:schemeClr val="accent5"/>
                </a:solidFill>
                <a:latin typeface="Consolas" panose="020B0609020204030204" pitchFamily="49" charset="0"/>
              </a:rPr>
              <a:t>FROM </a:t>
            </a:r>
            <a:r>
              <a:rPr lang="fr-FR" sz="2000" i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tablename</a:t>
            </a:r>
            <a:r>
              <a:rPr lang="fr-FR" sz="2000" i="1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>
                <a:solidFill>
                  <a:schemeClr val="accent2"/>
                </a:solidFill>
                <a:latin typeface="Consolas" panose="020B0609020204030204" pitchFamily="49" charset="0"/>
              </a:rPr>
              <a:t>[WHERE </a:t>
            </a:r>
            <a:r>
              <a:rPr lang="fr-FR" sz="2000" i="1" dirty="0">
                <a:solidFill>
                  <a:schemeClr val="accent2"/>
                </a:solidFill>
                <a:latin typeface="Consolas" panose="020B0609020204030204" pitchFamily="49" charset="0"/>
              </a:rPr>
              <a:t>condition(s)</a:t>
            </a:r>
            <a:r>
              <a:rPr lang="fr-FR" sz="2000" dirty="0">
                <a:solidFill>
                  <a:schemeClr val="accent2"/>
                </a:solidFill>
                <a:latin typeface="Consolas" panose="020B0609020204030204" pitchFamily="49" charset="0"/>
              </a:rPr>
              <a:t>]</a:t>
            </a:r>
            <a:r>
              <a:rPr lang="fr-FR" sz="2000" i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>
                <a:solidFill>
                  <a:schemeClr val="accent1"/>
                </a:solidFill>
                <a:latin typeface="Consolas" panose="020B0609020204030204" pitchFamily="49" charset="0"/>
              </a:rPr>
              <a:t>[ORDER BY </a:t>
            </a:r>
            <a:r>
              <a:rPr lang="fr-FR" sz="2000" i="1" dirty="0">
                <a:solidFill>
                  <a:schemeClr val="accent1"/>
                </a:solidFill>
                <a:latin typeface="Consolas" panose="020B0609020204030204" pitchFamily="49" charset="0"/>
              </a:rPr>
              <a:t>champ(s)</a:t>
            </a:r>
            <a:r>
              <a:rPr lang="fr-FR" sz="2000" dirty="0">
                <a:solidFill>
                  <a:schemeClr val="accent1"/>
                </a:solidFill>
                <a:latin typeface="Consolas" panose="020B0609020204030204" pitchFamily="49" charset="0"/>
              </a:rPr>
              <a:t>] </a:t>
            </a:r>
            <a:r>
              <a:rPr lang="fr-FR" sz="2000" dirty="0">
                <a:solidFill>
                  <a:schemeClr val="accent2"/>
                </a:solidFill>
                <a:latin typeface="Consolas" panose="020B0609020204030204" pitchFamily="49" charset="0"/>
              </a:rPr>
              <a:t>[LIMIT</a:t>
            </a:r>
            <a:r>
              <a:rPr lang="fr-FR" sz="2000" i="1" dirty="0">
                <a:solidFill>
                  <a:schemeClr val="accent2"/>
                </a:solidFill>
                <a:latin typeface="Consolas" panose="020B0609020204030204" pitchFamily="49" charset="0"/>
              </a:rPr>
              <a:t> value</a:t>
            </a:r>
            <a:r>
              <a:rPr lang="fr-FR" sz="2000" dirty="0">
                <a:solidFill>
                  <a:schemeClr val="accent2"/>
                </a:solidFill>
                <a:latin typeface="Consolas" panose="020B0609020204030204" pitchFamily="49" charset="0"/>
              </a:rPr>
              <a:t>]</a:t>
            </a:r>
            <a:r>
              <a:rPr lang="fr-FR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endParaRPr lang="fr-FR" sz="2000" b="1" i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724E1C8-43BF-15B4-8EE6-509946E111BB}"/>
              </a:ext>
            </a:extLst>
          </p:cNvPr>
          <p:cNvSpPr txBox="1"/>
          <p:nvPr/>
        </p:nvSpPr>
        <p:spPr>
          <a:xfrm>
            <a:off x="605971" y="2028825"/>
            <a:ext cx="10799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1. sélectionner les capteurs (table </a:t>
            </a:r>
            <a:r>
              <a:rPr lang="fr-FR" i="1" dirty="0"/>
              <a:t>capteurs</a:t>
            </a:r>
            <a:r>
              <a:rPr lang="fr-FR" dirty="0"/>
              <a:t>, champs </a:t>
            </a:r>
            <a:r>
              <a:rPr lang="fr-FR" i="1" dirty="0"/>
              <a:t>nom</a:t>
            </a:r>
            <a:r>
              <a:rPr lang="fr-FR" dirty="0"/>
              <a:t> et </a:t>
            </a:r>
            <a:r>
              <a:rPr lang="fr-FR" i="1" dirty="0"/>
              <a:t>adresse</a:t>
            </a:r>
            <a:r>
              <a:rPr lang="fr-FR" dirty="0"/>
              <a:t>) positionnés dans la ville de Lyon (champ </a:t>
            </a:r>
            <a:r>
              <a:rPr lang="fr-FR" i="1" dirty="0"/>
              <a:t>adresse</a:t>
            </a:r>
            <a:r>
              <a:rPr lang="fr-FR" dirty="0"/>
              <a:t>), et triés par </a:t>
            </a:r>
            <a:r>
              <a:rPr lang="fr-FR" i="1" dirty="0"/>
              <a:t>nom</a:t>
            </a:r>
            <a:r>
              <a:rPr lang="fr-FR" dirty="0"/>
              <a:t> (Z-A)</a:t>
            </a:r>
          </a:p>
          <a:p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97124A0-70D5-ECDA-D51E-B6651BEAA12F}"/>
              </a:ext>
            </a:extLst>
          </p:cNvPr>
          <p:cNvSpPr txBox="1"/>
          <p:nvPr/>
        </p:nvSpPr>
        <p:spPr>
          <a:xfrm>
            <a:off x="605970" y="2778703"/>
            <a:ext cx="1056891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3"/>
                </a:solidFill>
                <a:latin typeface="Consolas" panose="020B0609020204030204" pitchFamily="49" charset="0"/>
              </a:rPr>
              <a:t>SELECT </a:t>
            </a:r>
            <a:r>
              <a:rPr lang="fr-FR" i="1" dirty="0">
                <a:solidFill>
                  <a:schemeClr val="accent3"/>
                </a:solidFill>
                <a:latin typeface="Consolas" panose="020B0609020204030204" pitchFamily="49" charset="0"/>
              </a:rPr>
              <a:t>nom</a:t>
            </a:r>
            <a:r>
              <a:rPr lang="fr-FR" dirty="0">
                <a:solidFill>
                  <a:schemeClr val="accent3"/>
                </a:solidFill>
                <a:latin typeface="Consolas" panose="020B0609020204030204" pitchFamily="49" charset="0"/>
              </a:rPr>
              <a:t>, </a:t>
            </a:r>
            <a:r>
              <a:rPr lang="fr-FR" i="1" dirty="0">
                <a:solidFill>
                  <a:schemeClr val="accent3"/>
                </a:solidFill>
                <a:latin typeface="Consolas" panose="020B0609020204030204" pitchFamily="49" charset="0"/>
              </a:rPr>
              <a:t>adresse</a:t>
            </a:r>
            <a:r>
              <a:rPr lang="fr-FR" dirty="0">
                <a:solidFill>
                  <a:schemeClr val="accent3"/>
                </a:solidFill>
                <a:latin typeface="Consolas" panose="020B0609020204030204" pitchFamily="49" charset="0"/>
              </a:rPr>
              <a:t>  </a:t>
            </a:r>
            <a:r>
              <a:rPr lang="fr-FR" dirty="0">
                <a:solidFill>
                  <a:schemeClr val="accent5"/>
                </a:solidFill>
                <a:latin typeface="Consolas" panose="020B0609020204030204" pitchFamily="49" charset="0"/>
              </a:rPr>
              <a:t>FROM capteurs </a:t>
            </a:r>
            <a:r>
              <a:rPr lang="fr-FR" dirty="0">
                <a:solidFill>
                  <a:schemeClr val="accent2"/>
                </a:solidFill>
                <a:latin typeface="Consolas" panose="020B0609020204030204" pitchFamily="49" charset="0"/>
              </a:rPr>
              <a:t>WHERE adresse ILIKE ‘%</a:t>
            </a:r>
            <a:r>
              <a:rPr lang="fr-FR" dirty="0" err="1">
                <a:solidFill>
                  <a:schemeClr val="accent2"/>
                </a:solidFill>
                <a:latin typeface="Consolas" panose="020B0609020204030204" pitchFamily="49" charset="0"/>
              </a:rPr>
              <a:t>lyon</a:t>
            </a:r>
            <a:r>
              <a:rPr lang="fr-FR" dirty="0">
                <a:solidFill>
                  <a:schemeClr val="accent2"/>
                </a:solidFill>
                <a:latin typeface="Consolas" panose="020B0609020204030204" pitchFamily="49" charset="0"/>
              </a:rPr>
              <a:t>%' 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ORDER BY </a:t>
            </a:r>
            <a:r>
              <a:rPr lang="fr-FR" i="1" dirty="0">
                <a:solidFill>
                  <a:schemeClr val="accent1"/>
                </a:solidFill>
                <a:latin typeface="Consolas" panose="020B0609020204030204" pitchFamily="49" charset="0"/>
              </a:rPr>
              <a:t>nom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desc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;</a:t>
            </a:r>
          </a:p>
          <a:p>
            <a:endParaRPr lang="fr-FR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fr-FR" u="sng" dirty="0">
                <a:latin typeface="Consolas" panose="020B0609020204030204" pitchFamily="49" charset="0"/>
              </a:rPr>
              <a:t>Info</a:t>
            </a:r>
            <a:r>
              <a:rPr lang="fr-FR" dirty="0">
                <a:latin typeface="Consolas" panose="020B0609020204030204" pitchFamily="49" charset="0"/>
              </a:rPr>
              <a:t> : ILIKE permet de s’affranchir de la casse (insensible MAJUSCULE/minuscule)</a:t>
            </a:r>
          </a:p>
          <a:p>
            <a:endParaRPr lang="fr-FR" dirty="0">
              <a:latin typeface="Consolas" panose="020B0609020204030204" pitchFamily="49" charset="0"/>
            </a:endParaRPr>
          </a:p>
          <a:p>
            <a:r>
              <a:rPr lang="fr-FR" u="sng" dirty="0">
                <a:latin typeface="Consolas" panose="020B0609020204030204" pitchFamily="49" charset="0"/>
              </a:rPr>
              <a:t>Info</a:t>
            </a:r>
            <a:r>
              <a:rPr lang="fr-FR" dirty="0">
                <a:latin typeface="Consolas" panose="020B0609020204030204" pitchFamily="49" charset="0"/>
              </a:rPr>
              <a:t> : Possibilité d’utiliser les REGEX avec ~ OU ~* (sensible ou non à la casse)</a:t>
            </a:r>
          </a:p>
        </p:txBody>
      </p:sp>
    </p:spTree>
    <p:extLst>
      <p:ext uri="{BB962C8B-B14F-4D97-AF65-F5344CB8AC3E}">
        <p14:creationId xmlns:p14="http://schemas.microsoft.com/office/powerpoint/2010/main" val="104644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- basique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8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D202FF3-A70C-5A62-1940-EE703C9B8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977"/>
            <a:ext cx="10998200" cy="917575"/>
          </a:xfrm>
        </p:spPr>
        <p:txBody>
          <a:bodyPr/>
          <a:lstStyle/>
          <a:p>
            <a:pPr marL="0" indent="0">
              <a:buNone/>
            </a:pPr>
            <a:r>
              <a:rPr lang="fr-FR" sz="2000" dirty="0">
                <a:solidFill>
                  <a:schemeClr val="accent3"/>
                </a:solidFill>
                <a:latin typeface="Consolas" panose="020B0609020204030204" pitchFamily="49" charset="0"/>
              </a:rPr>
              <a:t>SELECT </a:t>
            </a:r>
            <a:r>
              <a:rPr lang="fr-FR" sz="2000" i="1" dirty="0">
                <a:solidFill>
                  <a:schemeClr val="accent3"/>
                </a:solidFill>
                <a:latin typeface="Consolas" panose="020B0609020204030204" pitchFamily="49" charset="0"/>
              </a:rPr>
              <a:t>champ(s)  </a:t>
            </a:r>
            <a:r>
              <a:rPr lang="fr-FR" sz="2000" dirty="0">
                <a:solidFill>
                  <a:schemeClr val="accent5"/>
                </a:solidFill>
                <a:latin typeface="Consolas" panose="020B0609020204030204" pitchFamily="49" charset="0"/>
              </a:rPr>
              <a:t>FROM </a:t>
            </a:r>
            <a:r>
              <a:rPr lang="fr-FR" sz="2000" i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tablename</a:t>
            </a:r>
            <a:r>
              <a:rPr lang="fr-FR" sz="2000" i="1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>
                <a:solidFill>
                  <a:schemeClr val="accent2"/>
                </a:solidFill>
                <a:latin typeface="Consolas" panose="020B0609020204030204" pitchFamily="49" charset="0"/>
              </a:rPr>
              <a:t>[WHERE </a:t>
            </a:r>
            <a:r>
              <a:rPr lang="fr-FR" sz="2000" i="1" dirty="0">
                <a:solidFill>
                  <a:schemeClr val="accent2"/>
                </a:solidFill>
                <a:latin typeface="Consolas" panose="020B0609020204030204" pitchFamily="49" charset="0"/>
              </a:rPr>
              <a:t>condition(s)</a:t>
            </a:r>
            <a:r>
              <a:rPr lang="fr-FR" sz="2000" dirty="0">
                <a:solidFill>
                  <a:schemeClr val="accent2"/>
                </a:solidFill>
                <a:latin typeface="Consolas" panose="020B0609020204030204" pitchFamily="49" charset="0"/>
              </a:rPr>
              <a:t>]</a:t>
            </a:r>
            <a:r>
              <a:rPr lang="fr-FR" sz="2000" i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>
                <a:solidFill>
                  <a:schemeClr val="accent1"/>
                </a:solidFill>
                <a:latin typeface="Consolas" panose="020B0609020204030204" pitchFamily="49" charset="0"/>
              </a:rPr>
              <a:t>[ORDER BY </a:t>
            </a:r>
            <a:r>
              <a:rPr lang="fr-FR" sz="2000" i="1" dirty="0">
                <a:solidFill>
                  <a:schemeClr val="accent1"/>
                </a:solidFill>
                <a:latin typeface="Consolas" panose="020B0609020204030204" pitchFamily="49" charset="0"/>
              </a:rPr>
              <a:t>champ(s)</a:t>
            </a:r>
            <a:r>
              <a:rPr lang="fr-FR" sz="2000" dirty="0">
                <a:solidFill>
                  <a:schemeClr val="accent1"/>
                </a:solidFill>
                <a:latin typeface="Consolas" panose="020B0609020204030204" pitchFamily="49" charset="0"/>
              </a:rPr>
              <a:t>] </a:t>
            </a:r>
            <a:r>
              <a:rPr lang="fr-FR" sz="2000" dirty="0">
                <a:solidFill>
                  <a:schemeClr val="accent2"/>
                </a:solidFill>
                <a:latin typeface="Consolas" panose="020B0609020204030204" pitchFamily="49" charset="0"/>
              </a:rPr>
              <a:t>[LIMIT</a:t>
            </a:r>
            <a:r>
              <a:rPr lang="fr-FR" sz="2000" i="1" dirty="0">
                <a:solidFill>
                  <a:schemeClr val="accent2"/>
                </a:solidFill>
                <a:latin typeface="Consolas" panose="020B0609020204030204" pitchFamily="49" charset="0"/>
              </a:rPr>
              <a:t> value</a:t>
            </a:r>
            <a:r>
              <a:rPr lang="fr-FR" sz="2000" dirty="0">
                <a:solidFill>
                  <a:schemeClr val="accent2"/>
                </a:solidFill>
                <a:latin typeface="Consolas" panose="020B0609020204030204" pitchFamily="49" charset="0"/>
              </a:rPr>
              <a:t>]</a:t>
            </a:r>
            <a:r>
              <a:rPr lang="fr-FR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endParaRPr lang="fr-FR" sz="2000" b="1" i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F37AEAF-5209-BCFD-DF0B-13E9AE9B3098}"/>
              </a:ext>
            </a:extLst>
          </p:cNvPr>
          <p:cNvSpPr txBox="1"/>
          <p:nvPr/>
        </p:nvSpPr>
        <p:spPr>
          <a:xfrm>
            <a:off x="507658" y="2625265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2. Sélectionner le nombre de carreaux de la métropole (table </a:t>
            </a:r>
            <a:r>
              <a:rPr lang="fr-FR" i="1" dirty="0"/>
              <a:t>pop_</a:t>
            </a:r>
            <a:r>
              <a:rPr lang="fr-FR" dirty="0"/>
              <a:t>200) ayant une proportion de ménages en maison (</a:t>
            </a:r>
            <a:r>
              <a:rPr lang="fr-FR" i="1" dirty="0" err="1"/>
              <a:t>men_mais</a:t>
            </a:r>
            <a:r>
              <a:rPr lang="fr-FR" dirty="0"/>
              <a:t>) &gt; 85% OU &lt; 15 % (total = ménages collectifs </a:t>
            </a:r>
            <a:r>
              <a:rPr lang="fr-FR" i="1" dirty="0" err="1"/>
              <a:t>men_coll</a:t>
            </a:r>
            <a:r>
              <a:rPr lang="fr-FR" i="1" dirty="0"/>
              <a:t> </a:t>
            </a:r>
            <a:r>
              <a:rPr lang="fr-FR" dirty="0"/>
              <a:t>+ ménages en maison </a:t>
            </a:r>
            <a:r>
              <a:rPr lang="fr-FR" i="1" dirty="0" err="1"/>
              <a:t>men_mais</a:t>
            </a:r>
            <a:r>
              <a:rPr lang="fr-FR" dirty="0"/>
              <a:t>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1D95FD4-F9AC-F246-8942-8D593536386D}"/>
              </a:ext>
            </a:extLst>
          </p:cNvPr>
          <p:cNvSpPr txBox="1"/>
          <p:nvPr/>
        </p:nvSpPr>
        <p:spPr>
          <a:xfrm>
            <a:off x="507658" y="3940377"/>
            <a:ext cx="11328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3"/>
                </a:solidFill>
                <a:latin typeface="Consolas" panose="020B0609020204030204" pitchFamily="49" charset="0"/>
              </a:rPr>
              <a:t>SELECT count(*) AS </a:t>
            </a:r>
            <a:r>
              <a:rPr lang="fr-FR" dirty="0" err="1">
                <a:solidFill>
                  <a:schemeClr val="accent3"/>
                </a:solidFill>
                <a:latin typeface="Consolas" panose="020B0609020204030204" pitchFamily="49" charset="0"/>
              </a:rPr>
              <a:t>nb_carreaux</a:t>
            </a:r>
            <a:r>
              <a:rPr lang="fr-FR" dirty="0">
                <a:solidFill>
                  <a:schemeClr val="accent3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chemeClr val="accent5"/>
                </a:solidFill>
                <a:latin typeface="Consolas" panose="020B0609020204030204" pitchFamily="49" charset="0"/>
              </a:rPr>
              <a:t>FROM </a:t>
            </a:r>
            <a:r>
              <a:rPr lang="fr-FR" i="1" dirty="0">
                <a:solidFill>
                  <a:schemeClr val="accent5"/>
                </a:solidFill>
                <a:latin typeface="Consolas" panose="020B0609020204030204" pitchFamily="49" charset="0"/>
              </a:rPr>
              <a:t>pop_200 </a:t>
            </a:r>
            <a:r>
              <a:rPr lang="fr-FR" dirty="0">
                <a:solidFill>
                  <a:schemeClr val="accent2"/>
                </a:solidFill>
                <a:latin typeface="Consolas" panose="020B0609020204030204" pitchFamily="49" charset="0"/>
              </a:rPr>
              <a:t>WHERE (( </a:t>
            </a:r>
            <a:r>
              <a:rPr lang="fr-FR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men_mais</a:t>
            </a:r>
            <a:r>
              <a:rPr lang="fr-FR" i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chemeClr val="accent2"/>
                </a:solidFill>
                <a:latin typeface="Consolas" panose="020B0609020204030204" pitchFamily="49" charset="0"/>
              </a:rPr>
              <a:t>* 100/  (</a:t>
            </a:r>
            <a:r>
              <a:rPr lang="fr-FR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men_mais</a:t>
            </a:r>
            <a:r>
              <a:rPr lang="fr-FR" i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chemeClr val="accent2"/>
                </a:solidFill>
                <a:latin typeface="Consolas" panose="020B0609020204030204" pitchFamily="49" charset="0"/>
              </a:rPr>
              <a:t>+ </a:t>
            </a:r>
            <a:r>
              <a:rPr lang="fr-FR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men_coll</a:t>
            </a:r>
            <a:r>
              <a:rPr lang="fr-FR" dirty="0">
                <a:solidFill>
                  <a:schemeClr val="accent2"/>
                </a:solidFill>
                <a:latin typeface="Consolas" panose="020B0609020204030204" pitchFamily="49" charset="0"/>
              </a:rPr>
              <a:t>) ) &gt; 85 ) </a:t>
            </a:r>
          </a:p>
          <a:p>
            <a:r>
              <a:rPr lang="fr-FR" dirty="0">
                <a:solidFill>
                  <a:schemeClr val="accent2"/>
                </a:solidFill>
                <a:latin typeface="Consolas" panose="020B0609020204030204" pitchFamily="49" charset="0"/>
              </a:rPr>
              <a:t>OR ( (</a:t>
            </a:r>
            <a:r>
              <a:rPr lang="fr-FR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men_mais</a:t>
            </a:r>
            <a:r>
              <a:rPr lang="fr-FR" dirty="0">
                <a:solidFill>
                  <a:schemeClr val="accent2"/>
                </a:solidFill>
                <a:latin typeface="Consolas" panose="020B0609020204030204" pitchFamily="49" charset="0"/>
              </a:rPr>
              <a:t>*100/(</a:t>
            </a:r>
            <a:r>
              <a:rPr lang="fr-FR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men_mais</a:t>
            </a:r>
            <a:r>
              <a:rPr lang="fr-FR" i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chemeClr val="accent2"/>
                </a:solidFill>
                <a:latin typeface="Consolas" panose="020B0609020204030204" pitchFamily="49" charset="0"/>
              </a:rPr>
              <a:t>+ </a:t>
            </a:r>
            <a:r>
              <a:rPr lang="fr-FR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men_coll</a:t>
            </a:r>
            <a:r>
              <a:rPr lang="fr-FR" dirty="0">
                <a:solidFill>
                  <a:schemeClr val="accent2"/>
                </a:solidFill>
                <a:latin typeface="Consolas" panose="020B0609020204030204" pitchFamily="49" charset="0"/>
              </a:rPr>
              <a:t>)) &lt; 15);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9428EB2-5A8F-2CF6-8412-37E4011438C6}"/>
              </a:ext>
            </a:extLst>
          </p:cNvPr>
          <p:cNvSpPr txBox="1"/>
          <p:nvPr/>
        </p:nvSpPr>
        <p:spPr>
          <a:xfrm>
            <a:off x="507658" y="5326358"/>
            <a:ext cx="11328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3"/>
                </a:solidFill>
                <a:latin typeface="Consolas" panose="020B0609020204030204" pitchFamily="49" charset="0"/>
              </a:rPr>
              <a:t>SELECT count(*) AS </a:t>
            </a:r>
            <a:r>
              <a:rPr lang="fr-FR" dirty="0" err="1">
                <a:solidFill>
                  <a:schemeClr val="accent3"/>
                </a:solidFill>
                <a:latin typeface="Consolas" panose="020B0609020204030204" pitchFamily="49" charset="0"/>
              </a:rPr>
              <a:t>nb_carreaux</a:t>
            </a:r>
            <a:r>
              <a:rPr lang="fr-FR" dirty="0">
                <a:solidFill>
                  <a:schemeClr val="accent3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chemeClr val="accent5"/>
                </a:solidFill>
                <a:latin typeface="Consolas" panose="020B0609020204030204" pitchFamily="49" charset="0"/>
              </a:rPr>
              <a:t>FROM </a:t>
            </a:r>
            <a:r>
              <a:rPr lang="fr-FR" i="1" dirty="0">
                <a:solidFill>
                  <a:schemeClr val="accent5"/>
                </a:solidFill>
                <a:latin typeface="Consolas" panose="020B0609020204030204" pitchFamily="49" charset="0"/>
              </a:rPr>
              <a:t>pop_200 </a:t>
            </a:r>
            <a:r>
              <a:rPr lang="fr-FR" dirty="0">
                <a:solidFill>
                  <a:schemeClr val="accent2"/>
                </a:solidFill>
                <a:latin typeface="Consolas" panose="020B0609020204030204" pitchFamily="49" charset="0"/>
              </a:rPr>
              <a:t>WHERE ( </a:t>
            </a:r>
            <a:r>
              <a:rPr lang="fr-FR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men_mais</a:t>
            </a:r>
            <a:r>
              <a:rPr lang="fr-FR" i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chemeClr val="accent2"/>
                </a:solidFill>
                <a:latin typeface="Consolas" panose="020B0609020204030204" pitchFamily="49" charset="0"/>
              </a:rPr>
              <a:t>* 100/  (</a:t>
            </a:r>
            <a:r>
              <a:rPr lang="fr-FR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men_mais</a:t>
            </a:r>
            <a:r>
              <a:rPr lang="fr-FR" i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chemeClr val="accent2"/>
                </a:solidFill>
                <a:latin typeface="Consolas" panose="020B0609020204030204" pitchFamily="49" charset="0"/>
              </a:rPr>
              <a:t>+ </a:t>
            </a:r>
            <a:r>
              <a:rPr lang="fr-FR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men_coll</a:t>
            </a:r>
            <a:r>
              <a:rPr lang="fr-FR" dirty="0">
                <a:solidFill>
                  <a:schemeClr val="accent2"/>
                </a:solidFill>
                <a:latin typeface="Consolas" panose="020B0609020204030204" pitchFamily="49" charset="0"/>
              </a:rPr>
              <a:t>) ) NOT BETWEEN 15 AND 85;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43AA66-6189-E0BE-6AA1-6CEEC30EB3A7}"/>
              </a:ext>
            </a:extLst>
          </p:cNvPr>
          <p:cNvSpPr txBox="1"/>
          <p:nvPr/>
        </p:nvSpPr>
        <p:spPr>
          <a:xfrm>
            <a:off x="507658" y="4933334"/>
            <a:ext cx="11328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onsolas" panose="020B0609020204030204" pitchFamily="49" charset="0"/>
              </a:rPr>
              <a:t>OU BIEN</a:t>
            </a:r>
          </a:p>
        </p:txBody>
      </p:sp>
    </p:spTree>
    <p:extLst>
      <p:ext uri="{BB962C8B-B14F-4D97-AF65-F5344CB8AC3E}">
        <p14:creationId xmlns:p14="http://schemas.microsoft.com/office/powerpoint/2010/main" val="407527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3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- basique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9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D202FF3-A70C-5A62-1940-EE703C9B8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977"/>
            <a:ext cx="10998200" cy="917575"/>
          </a:xfrm>
        </p:spPr>
        <p:txBody>
          <a:bodyPr/>
          <a:lstStyle/>
          <a:p>
            <a:pPr marL="0" indent="0">
              <a:buNone/>
            </a:pPr>
            <a:r>
              <a:rPr lang="fr-FR" sz="2000" dirty="0">
                <a:solidFill>
                  <a:schemeClr val="accent3"/>
                </a:solidFill>
                <a:latin typeface="Consolas" panose="020B0609020204030204" pitchFamily="49" charset="0"/>
              </a:rPr>
              <a:t>SELECT </a:t>
            </a:r>
            <a:r>
              <a:rPr lang="fr-FR" sz="2000" i="1" dirty="0">
                <a:solidFill>
                  <a:schemeClr val="accent3"/>
                </a:solidFill>
                <a:latin typeface="Consolas" panose="020B0609020204030204" pitchFamily="49" charset="0"/>
              </a:rPr>
              <a:t>champ(s)  </a:t>
            </a:r>
            <a:r>
              <a:rPr lang="fr-FR" sz="2000" dirty="0">
                <a:solidFill>
                  <a:schemeClr val="accent5"/>
                </a:solidFill>
                <a:latin typeface="Consolas" panose="020B0609020204030204" pitchFamily="49" charset="0"/>
              </a:rPr>
              <a:t>FROM </a:t>
            </a:r>
            <a:r>
              <a:rPr lang="fr-FR" sz="2000" i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tablename</a:t>
            </a:r>
            <a:r>
              <a:rPr lang="fr-FR" sz="2000" i="1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>
                <a:solidFill>
                  <a:schemeClr val="accent2"/>
                </a:solidFill>
                <a:latin typeface="Consolas" panose="020B0609020204030204" pitchFamily="49" charset="0"/>
              </a:rPr>
              <a:t>[WHERE </a:t>
            </a:r>
            <a:r>
              <a:rPr lang="fr-FR" sz="2000" i="1" dirty="0">
                <a:solidFill>
                  <a:schemeClr val="accent2"/>
                </a:solidFill>
                <a:latin typeface="Consolas" panose="020B0609020204030204" pitchFamily="49" charset="0"/>
              </a:rPr>
              <a:t>condition(s)</a:t>
            </a:r>
            <a:r>
              <a:rPr lang="fr-FR" sz="2000" dirty="0">
                <a:solidFill>
                  <a:schemeClr val="accent2"/>
                </a:solidFill>
                <a:latin typeface="Consolas" panose="020B0609020204030204" pitchFamily="49" charset="0"/>
              </a:rPr>
              <a:t>]</a:t>
            </a:r>
            <a:r>
              <a:rPr lang="fr-FR" sz="2000" i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>
                <a:solidFill>
                  <a:schemeClr val="accent1"/>
                </a:solidFill>
                <a:latin typeface="Consolas" panose="020B0609020204030204" pitchFamily="49" charset="0"/>
              </a:rPr>
              <a:t>[ORDER BY </a:t>
            </a:r>
            <a:r>
              <a:rPr lang="fr-FR" sz="2000" i="1" dirty="0">
                <a:solidFill>
                  <a:schemeClr val="accent1"/>
                </a:solidFill>
                <a:latin typeface="Consolas" panose="020B0609020204030204" pitchFamily="49" charset="0"/>
              </a:rPr>
              <a:t>champ(s)</a:t>
            </a:r>
            <a:r>
              <a:rPr lang="fr-FR" sz="2000" dirty="0">
                <a:solidFill>
                  <a:schemeClr val="accent1"/>
                </a:solidFill>
                <a:latin typeface="Consolas" panose="020B0609020204030204" pitchFamily="49" charset="0"/>
              </a:rPr>
              <a:t>] </a:t>
            </a:r>
            <a:r>
              <a:rPr lang="fr-FR" sz="2000" dirty="0">
                <a:solidFill>
                  <a:schemeClr val="accent2"/>
                </a:solidFill>
                <a:latin typeface="Consolas" panose="020B0609020204030204" pitchFamily="49" charset="0"/>
              </a:rPr>
              <a:t>[LIMIT</a:t>
            </a:r>
            <a:r>
              <a:rPr lang="fr-FR" sz="2000" i="1" dirty="0">
                <a:solidFill>
                  <a:schemeClr val="accent2"/>
                </a:solidFill>
                <a:latin typeface="Consolas" panose="020B0609020204030204" pitchFamily="49" charset="0"/>
              </a:rPr>
              <a:t> value</a:t>
            </a:r>
            <a:r>
              <a:rPr lang="fr-FR" sz="2000" dirty="0">
                <a:solidFill>
                  <a:schemeClr val="accent2"/>
                </a:solidFill>
                <a:latin typeface="Consolas" panose="020B0609020204030204" pitchFamily="49" charset="0"/>
              </a:rPr>
              <a:t>]</a:t>
            </a:r>
            <a:r>
              <a:rPr lang="fr-FR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endParaRPr lang="fr-FR" sz="2000" b="1" i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2EBFCA9-3241-B65B-285F-3EC417741250}"/>
              </a:ext>
            </a:extLst>
          </p:cNvPr>
          <p:cNvSpPr txBox="1"/>
          <p:nvPr/>
        </p:nvSpPr>
        <p:spPr>
          <a:xfrm>
            <a:off x="533401" y="2782669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3. Sélectionner le nom, latitude et longitude de la commune (table </a:t>
            </a:r>
            <a:r>
              <a:rPr lang="fr-FR" i="1" dirty="0" err="1"/>
              <a:t>communes_metrop</a:t>
            </a:r>
            <a:r>
              <a:rPr lang="fr-FR" dirty="0"/>
              <a:t>, champs </a:t>
            </a:r>
            <a:r>
              <a:rPr lang="fr-FR" i="1" dirty="0"/>
              <a:t>nom &amp; </a:t>
            </a:r>
            <a:r>
              <a:rPr lang="fr-FR" i="1" dirty="0" err="1"/>
              <a:t>geom</a:t>
            </a:r>
            <a:r>
              <a:rPr lang="fr-FR" dirty="0"/>
              <a:t>) dont le centre est à le plus proche à l'Est du 5è méridien.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2C454B1-504F-BA89-BA9B-0A391AED3DD3}"/>
              </a:ext>
            </a:extLst>
          </p:cNvPr>
          <p:cNvSpPr txBox="1"/>
          <p:nvPr/>
        </p:nvSpPr>
        <p:spPr>
          <a:xfrm>
            <a:off x="533401" y="3970443"/>
            <a:ext cx="116585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SELECT </a:t>
            </a:r>
            <a:r>
              <a:rPr lang="en-US" i="1" dirty="0">
                <a:solidFill>
                  <a:schemeClr val="accent3"/>
                </a:solidFill>
                <a:latin typeface="Consolas" panose="020B0609020204030204" pitchFamily="49" charset="0"/>
              </a:rPr>
              <a:t>nom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st_x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st_centroid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(</a:t>
            </a:r>
            <a:r>
              <a:rPr lang="en-US" i="1" dirty="0" err="1">
                <a:solidFill>
                  <a:schemeClr val="accent3"/>
                </a:solidFill>
                <a:latin typeface="Consolas" panose="020B0609020204030204" pitchFamily="49" charset="0"/>
              </a:rPr>
              <a:t>geom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)) as longitude, 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st_y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st_centroid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(</a:t>
            </a:r>
            <a:r>
              <a:rPr lang="en-US" i="1" dirty="0" err="1">
                <a:solidFill>
                  <a:schemeClr val="accent3"/>
                </a:solidFill>
                <a:latin typeface="Consolas" panose="020B0609020204030204" pitchFamily="49" charset="0"/>
              </a:rPr>
              <a:t>geom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)) as latitude </a:t>
            </a:r>
          </a:p>
          <a:p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FROM </a:t>
            </a:r>
            <a:r>
              <a:rPr lang="en-US" i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communes_metrop</a:t>
            </a:r>
            <a:r>
              <a:rPr lang="en-US" i="1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WHERE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Consolas" panose="020B0609020204030204" pitchFamily="49" charset="0"/>
              </a:rPr>
              <a:t>st_x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2"/>
                </a:solidFill>
                <a:latin typeface="Consolas" panose="020B0609020204030204" pitchFamily="49" charset="0"/>
              </a:rPr>
              <a:t>st_centroid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(</a:t>
            </a:r>
            <a:r>
              <a:rPr lang="en-US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geom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)) &gt; 5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ORDER BY longitude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LIMIT 1</a:t>
            </a:r>
            <a:r>
              <a:rPr lang="en-US" dirty="0">
                <a:latin typeface="Consolas" panose="020B0609020204030204" pitchFamily="49" charset="0"/>
              </a:rPr>
              <a:t>; </a:t>
            </a:r>
          </a:p>
          <a:p>
            <a:endParaRPr lang="fr-FR" dirty="0">
              <a:latin typeface="Consolas" panose="020B0609020204030204" pitchFamily="49" charset="0"/>
            </a:endParaRPr>
          </a:p>
          <a:p>
            <a:r>
              <a:rPr lang="fr-FR" dirty="0" err="1">
                <a:latin typeface="Consolas" panose="020B0609020204030204" pitchFamily="49" charset="0"/>
              </a:rPr>
              <a:t>st_centroid</a:t>
            </a:r>
            <a:r>
              <a:rPr lang="fr-FR" dirty="0">
                <a:latin typeface="Consolas" panose="020B0609020204030204" pitchFamily="49" charset="0"/>
              </a:rPr>
              <a:t>(</a:t>
            </a:r>
            <a:r>
              <a:rPr lang="fr-FR" dirty="0" err="1">
                <a:latin typeface="Consolas" panose="020B0609020204030204" pitchFamily="49" charset="0"/>
              </a:rPr>
              <a:t>geom</a:t>
            </a:r>
            <a:r>
              <a:rPr lang="fr-FR" dirty="0">
                <a:latin typeface="Consolas" panose="020B0609020204030204" pitchFamily="49" charset="0"/>
              </a:rPr>
              <a:t>) : récupère le centroïde de la géométrie</a:t>
            </a:r>
          </a:p>
          <a:p>
            <a:r>
              <a:rPr lang="fr-FR" dirty="0" err="1">
                <a:latin typeface="Consolas" panose="020B0609020204030204" pitchFamily="49" charset="0"/>
              </a:rPr>
              <a:t>st_x</a:t>
            </a:r>
            <a:r>
              <a:rPr lang="fr-FR" dirty="0">
                <a:latin typeface="Consolas" panose="020B0609020204030204" pitchFamily="49" charset="0"/>
              </a:rPr>
              <a:t>(</a:t>
            </a:r>
            <a:r>
              <a:rPr lang="fr-FR" dirty="0" err="1">
                <a:latin typeface="Consolas" panose="020B0609020204030204" pitchFamily="49" charset="0"/>
              </a:rPr>
              <a:t>geom</a:t>
            </a:r>
            <a:r>
              <a:rPr lang="fr-FR" dirty="0">
                <a:latin typeface="Consolas" panose="020B0609020204030204" pitchFamily="49" charset="0"/>
              </a:rPr>
              <a:t>) / </a:t>
            </a:r>
            <a:r>
              <a:rPr lang="fr-FR" dirty="0" err="1">
                <a:latin typeface="Consolas" panose="020B0609020204030204" pitchFamily="49" charset="0"/>
              </a:rPr>
              <a:t>st_y</a:t>
            </a:r>
            <a:r>
              <a:rPr lang="fr-FR" dirty="0">
                <a:latin typeface="Consolas" panose="020B0609020204030204" pitchFamily="49" charset="0"/>
              </a:rPr>
              <a:t>(</a:t>
            </a:r>
            <a:r>
              <a:rPr lang="fr-FR" dirty="0" err="1">
                <a:latin typeface="Consolas" panose="020B0609020204030204" pitchFamily="49" charset="0"/>
              </a:rPr>
              <a:t>geom</a:t>
            </a:r>
            <a:r>
              <a:rPr lang="fr-FR" dirty="0">
                <a:latin typeface="Consolas" panose="020B0609020204030204" pitchFamily="49" charset="0"/>
              </a:rPr>
              <a:t>) : récupère la longitude / la latitude du point</a:t>
            </a:r>
          </a:p>
        </p:txBody>
      </p:sp>
    </p:spTree>
    <p:extLst>
      <p:ext uri="{BB962C8B-B14F-4D97-AF65-F5344CB8AC3E}">
        <p14:creationId xmlns:p14="http://schemas.microsoft.com/office/powerpoint/2010/main" val="77071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- agrégats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10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D202FF3-A70C-5A62-1940-EE703C9B8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577"/>
            <a:ext cx="10998200" cy="168134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2200" dirty="0">
                <a:latin typeface="+mn-lt"/>
              </a:rPr>
              <a:t>Fonctions communes d’agrégat:</a:t>
            </a:r>
          </a:p>
          <a:p>
            <a:r>
              <a:rPr lang="fr-FR" sz="2000" b="1" dirty="0">
                <a:latin typeface="+mn-lt"/>
              </a:rPr>
              <a:t>min(</a:t>
            </a:r>
            <a:r>
              <a:rPr lang="fr-FR" sz="2000" b="1" i="1" dirty="0">
                <a:latin typeface="+mn-lt"/>
              </a:rPr>
              <a:t>col</a:t>
            </a:r>
            <a:r>
              <a:rPr lang="fr-FR" sz="2000" b="1" dirty="0">
                <a:latin typeface="+mn-lt"/>
              </a:rPr>
              <a:t>), max(</a:t>
            </a:r>
            <a:r>
              <a:rPr lang="fr-FR" sz="2000" b="1" i="1" dirty="0">
                <a:latin typeface="+mn-lt"/>
              </a:rPr>
              <a:t>col</a:t>
            </a:r>
            <a:r>
              <a:rPr lang="fr-FR" sz="2000" b="1" dirty="0">
                <a:latin typeface="+mn-lt"/>
              </a:rPr>
              <a:t>), </a:t>
            </a:r>
            <a:r>
              <a:rPr lang="fr-FR" sz="2000" b="1" dirty="0" err="1">
                <a:latin typeface="+mn-lt"/>
              </a:rPr>
              <a:t>sum</a:t>
            </a:r>
            <a:r>
              <a:rPr lang="fr-FR" sz="2000" b="1" dirty="0">
                <a:latin typeface="+mn-lt"/>
              </a:rPr>
              <a:t>(</a:t>
            </a:r>
            <a:r>
              <a:rPr lang="fr-FR" sz="2000" b="1" i="1" dirty="0">
                <a:latin typeface="+mn-lt"/>
              </a:rPr>
              <a:t>col</a:t>
            </a:r>
            <a:r>
              <a:rPr lang="fr-FR" sz="2000" b="1" dirty="0">
                <a:latin typeface="+mn-lt"/>
              </a:rPr>
              <a:t>), </a:t>
            </a:r>
            <a:r>
              <a:rPr lang="fr-FR" sz="2000" b="1" dirty="0" err="1">
                <a:latin typeface="+mn-lt"/>
              </a:rPr>
              <a:t>avg</a:t>
            </a:r>
            <a:r>
              <a:rPr lang="fr-FR" sz="2000" b="1" dirty="0">
                <a:latin typeface="+mn-lt"/>
              </a:rPr>
              <a:t>(</a:t>
            </a:r>
            <a:r>
              <a:rPr lang="fr-FR" sz="2000" b="1" i="1" dirty="0">
                <a:latin typeface="+mn-lt"/>
              </a:rPr>
              <a:t>col</a:t>
            </a:r>
            <a:r>
              <a:rPr lang="fr-FR" sz="2000" b="1" dirty="0">
                <a:latin typeface="+mn-lt"/>
              </a:rPr>
              <a:t>)</a:t>
            </a:r>
          </a:p>
          <a:p>
            <a:r>
              <a:rPr lang="fr-FR" sz="2000" b="1" dirty="0" err="1">
                <a:latin typeface="+mn-lt"/>
              </a:rPr>
              <a:t>ST_collect</a:t>
            </a:r>
            <a:r>
              <a:rPr lang="fr-FR" sz="2000" b="1" dirty="0">
                <a:latin typeface="+mn-lt"/>
              </a:rPr>
              <a:t>(</a:t>
            </a:r>
            <a:r>
              <a:rPr lang="fr-FR" sz="2000" b="1" i="1" dirty="0">
                <a:latin typeface="+mn-lt"/>
              </a:rPr>
              <a:t>géométrie</a:t>
            </a:r>
            <a:r>
              <a:rPr lang="fr-FR" sz="2000" b="1" dirty="0">
                <a:latin typeface="+mn-lt"/>
              </a:rPr>
              <a:t>), ST_UNION(</a:t>
            </a:r>
            <a:r>
              <a:rPr lang="fr-FR" sz="2000" b="1" i="1" dirty="0">
                <a:latin typeface="+mn-lt"/>
              </a:rPr>
              <a:t>géométrie</a:t>
            </a:r>
            <a:r>
              <a:rPr lang="fr-FR" sz="2000" b="1" dirty="0">
                <a:latin typeface="+mn-lt"/>
              </a:rPr>
              <a:t>)</a:t>
            </a:r>
          </a:p>
          <a:p>
            <a:r>
              <a:rPr lang="fr-FR" sz="2000" b="1" dirty="0" err="1">
                <a:latin typeface="+mn-lt"/>
              </a:rPr>
              <a:t>string_agg</a:t>
            </a:r>
            <a:r>
              <a:rPr lang="fr-FR" sz="2000" b="1" dirty="0">
                <a:latin typeface="+mn-lt"/>
              </a:rPr>
              <a:t>(</a:t>
            </a:r>
            <a:r>
              <a:rPr lang="fr-FR" sz="2000" b="1" i="1" dirty="0">
                <a:latin typeface="+mn-lt"/>
              </a:rPr>
              <a:t>col, </a:t>
            </a:r>
            <a:r>
              <a:rPr lang="fr-FR" sz="2000" b="1" i="1" dirty="0" err="1">
                <a:latin typeface="+mn-lt"/>
              </a:rPr>
              <a:t>separateur</a:t>
            </a:r>
            <a:r>
              <a:rPr lang="fr-FR" sz="2000" b="1" dirty="0">
                <a:latin typeface="+mn-lt"/>
              </a:rPr>
              <a:t>), </a:t>
            </a:r>
            <a:r>
              <a:rPr lang="fr-FR" sz="2000" b="1" dirty="0" err="1">
                <a:latin typeface="+mn-lt"/>
              </a:rPr>
              <a:t>array_agg</a:t>
            </a:r>
            <a:r>
              <a:rPr lang="fr-FR" sz="2000" b="1" dirty="0">
                <a:latin typeface="+mn-lt"/>
              </a:rPr>
              <a:t>(</a:t>
            </a:r>
            <a:r>
              <a:rPr lang="fr-FR" sz="2000" b="1" i="1" dirty="0">
                <a:latin typeface="+mn-lt"/>
              </a:rPr>
              <a:t>col</a:t>
            </a:r>
            <a:r>
              <a:rPr lang="fr-FR" sz="2000" b="1" dirty="0">
                <a:latin typeface="+mn-lt"/>
              </a:rPr>
              <a:t>)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fr-F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Peuvent être</a:t>
            </a:r>
            <a:r>
              <a:rPr lang="fr-FR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 combinées avec la clause GROUP BY champ1, champ2</a:t>
            </a:r>
          </a:p>
          <a:p>
            <a:pPr marL="0" indent="0">
              <a:buNone/>
            </a:pPr>
            <a:endParaRPr lang="fr-FR" sz="2000" b="1" i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2EBFCA9-3241-B65B-285F-3EC417741250}"/>
              </a:ext>
            </a:extLst>
          </p:cNvPr>
          <p:cNvSpPr txBox="1"/>
          <p:nvPr/>
        </p:nvSpPr>
        <p:spPr>
          <a:xfrm>
            <a:off x="838200" y="3209482"/>
            <a:ext cx="11161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dirty="0"/>
              <a:t>Sélectionner la moyenne des précipitations, regroupées par mois pour l’année 2018 pour toute la métropole.</a:t>
            </a:r>
          </a:p>
          <a:p>
            <a:r>
              <a:rPr lang="fr-FR" dirty="0"/>
              <a:t>table </a:t>
            </a:r>
            <a:r>
              <a:rPr lang="fr-FR" i="1" dirty="0" err="1"/>
              <a:t>releves</a:t>
            </a:r>
            <a:r>
              <a:rPr lang="fr-FR" i="1" dirty="0"/>
              <a:t>, </a:t>
            </a:r>
            <a:r>
              <a:rPr lang="fr-FR" dirty="0"/>
              <a:t>colonnes </a:t>
            </a:r>
            <a:r>
              <a:rPr lang="fr-FR" i="1" dirty="0" err="1"/>
              <a:t>precipitation</a:t>
            </a:r>
            <a:r>
              <a:rPr lang="fr-FR" i="1" dirty="0"/>
              <a:t>, mois, </a:t>
            </a:r>
            <a:r>
              <a:rPr lang="fr-FR" i="1" dirty="0" err="1"/>
              <a:t>annee</a:t>
            </a:r>
            <a:endParaRPr lang="fr-FR" i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0BA919F-4D69-432C-4FE7-5ABE59443F9A}"/>
              </a:ext>
            </a:extLst>
          </p:cNvPr>
          <p:cNvSpPr txBox="1"/>
          <p:nvPr/>
        </p:nvSpPr>
        <p:spPr>
          <a:xfrm>
            <a:off x="838200" y="3830168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SELECT avg(precipitation) as 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precip_moy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mois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FROM </a:t>
            </a:r>
            <a:r>
              <a:rPr lang="en-US" dirty="0" err="1">
                <a:solidFill>
                  <a:schemeClr val="accent5"/>
                </a:solidFill>
                <a:latin typeface="Consolas" panose="020B0609020204030204" pitchFamily="49" charset="0"/>
              </a:rPr>
              <a:t>releves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WHERE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annee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= 2018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GROUP BY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mois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ORDER BY </a:t>
            </a:r>
            <a:r>
              <a:rPr lang="en-US" dirty="0" err="1">
                <a:solidFill>
                  <a:schemeClr val="accent2"/>
                </a:solidFill>
                <a:latin typeface="Consolas" panose="020B0609020204030204" pitchFamily="49" charset="0"/>
              </a:rPr>
              <a:t>mois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;</a:t>
            </a:r>
            <a:endParaRPr lang="fr-FR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0CC2E7C-A388-DA78-060F-4FE9E22B4175}"/>
              </a:ext>
            </a:extLst>
          </p:cNvPr>
          <p:cNvSpPr txBox="1"/>
          <p:nvPr/>
        </p:nvSpPr>
        <p:spPr>
          <a:xfrm>
            <a:off x="838200" y="5698054"/>
            <a:ext cx="1079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1ter</a:t>
            </a:r>
            <a:r>
              <a:rPr lang="fr-FR" dirty="0"/>
              <a:t> : Comment afficher le nom du mois ? (on dispose d’un champ </a:t>
            </a:r>
            <a:r>
              <a:rPr lang="fr-FR" dirty="0" err="1"/>
              <a:t>date_mois</a:t>
            </a:r>
            <a:r>
              <a:rPr lang="fr-FR" dirty="0"/>
              <a:t> au format date)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37CA681-7280-44FE-2EB7-FD68FB7DD1DF}"/>
              </a:ext>
            </a:extLst>
          </p:cNvPr>
          <p:cNvSpPr txBox="1"/>
          <p:nvPr/>
        </p:nvSpPr>
        <p:spPr>
          <a:xfrm>
            <a:off x="838199" y="6018921"/>
            <a:ext cx="7678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Consolas" panose="020B0609020204030204" pitchFamily="49" charset="0"/>
              </a:rPr>
              <a:t>SELECT </a:t>
            </a:r>
            <a:r>
              <a:rPr lang="fr-FR" dirty="0" err="1">
                <a:latin typeface="Consolas" panose="020B0609020204030204" pitchFamily="49" charset="0"/>
              </a:rPr>
              <a:t>to_char</a:t>
            </a:r>
            <a:r>
              <a:rPr lang="fr-FR" dirty="0">
                <a:latin typeface="Consolas" panose="020B0609020204030204" pitchFamily="49" charset="0"/>
              </a:rPr>
              <a:t>(</a:t>
            </a:r>
            <a:r>
              <a:rPr lang="fr-FR" dirty="0" err="1">
                <a:latin typeface="Consolas" panose="020B0609020204030204" pitchFamily="49" charset="0"/>
              </a:rPr>
              <a:t>date_mois</a:t>
            </a:r>
            <a:r>
              <a:rPr lang="fr-FR" dirty="0">
                <a:latin typeface="Consolas" panose="020B0609020204030204" pitchFamily="49" charset="0"/>
              </a:rPr>
              <a:t>, 'MONTH’) FROM </a:t>
            </a:r>
            <a:r>
              <a:rPr lang="fr-FR" dirty="0" err="1">
                <a:latin typeface="Consolas" panose="020B0609020204030204" pitchFamily="49" charset="0"/>
              </a:rPr>
              <a:t>releves</a:t>
            </a:r>
            <a:r>
              <a:rPr lang="fr-FR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4CFE3CD-66BF-C3D7-6918-FF6509F1EFF3}"/>
              </a:ext>
            </a:extLst>
          </p:cNvPr>
          <p:cNvSpPr txBox="1"/>
          <p:nvPr/>
        </p:nvSpPr>
        <p:spPr>
          <a:xfrm>
            <a:off x="838200" y="4672258"/>
            <a:ext cx="11161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1bis</a:t>
            </a:r>
            <a:r>
              <a:rPr lang="fr-FR" dirty="0"/>
              <a:t> : Comment extraire le mois, l’année depuis une date ? (on dispose d’un champ </a:t>
            </a:r>
            <a:r>
              <a:rPr lang="fr-FR" dirty="0" err="1"/>
              <a:t>date_mois</a:t>
            </a:r>
            <a:r>
              <a:rPr lang="fr-FR" dirty="0"/>
              <a:t> au format date)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F180E54-33E2-AA99-B7A1-E67EAB4ADB88}"/>
              </a:ext>
            </a:extLst>
          </p:cNvPr>
          <p:cNvSpPr txBox="1"/>
          <p:nvPr/>
        </p:nvSpPr>
        <p:spPr>
          <a:xfrm>
            <a:off x="838200" y="5036667"/>
            <a:ext cx="111617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Consolas" panose="020B0609020204030204" pitchFamily="49" charset="0"/>
              </a:rPr>
              <a:t>SELECT </a:t>
            </a:r>
            <a:r>
              <a:rPr lang="fr-FR" b="1" dirty="0" err="1">
                <a:latin typeface="Consolas" panose="020B0609020204030204" pitchFamily="49" charset="0"/>
              </a:rPr>
              <a:t>date_part</a:t>
            </a:r>
            <a:r>
              <a:rPr lang="fr-FR" b="1" dirty="0">
                <a:latin typeface="Consolas" panose="020B0609020204030204" pitchFamily="49" charset="0"/>
              </a:rPr>
              <a:t>(‘YEAR’, </a:t>
            </a:r>
            <a:r>
              <a:rPr lang="fr-FR" b="1" dirty="0" err="1">
                <a:latin typeface="Consolas" panose="020B0609020204030204" pitchFamily="49" charset="0"/>
              </a:rPr>
              <a:t>date_mois</a:t>
            </a:r>
            <a:r>
              <a:rPr lang="fr-FR" b="1" dirty="0">
                <a:latin typeface="Consolas" panose="020B0609020204030204" pitchFamily="49" charset="0"/>
              </a:rPr>
              <a:t>) as </a:t>
            </a:r>
            <a:r>
              <a:rPr lang="fr-FR" b="1" dirty="0" err="1">
                <a:latin typeface="Consolas" panose="020B0609020204030204" pitchFamily="49" charset="0"/>
              </a:rPr>
              <a:t>annee</a:t>
            </a:r>
            <a:r>
              <a:rPr lang="fr-FR" b="1" dirty="0">
                <a:latin typeface="Consolas" panose="020B0609020204030204" pitchFamily="49" charset="0"/>
              </a:rPr>
              <a:t>, </a:t>
            </a:r>
            <a:r>
              <a:rPr lang="fr-FR" b="1" dirty="0" err="1">
                <a:latin typeface="Consolas" panose="020B0609020204030204" pitchFamily="49" charset="0"/>
              </a:rPr>
              <a:t>date_part</a:t>
            </a:r>
            <a:r>
              <a:rPr lang="fr-FR" b="1" dirty="0">
                <a:latin typeface="Consolas" panose="020B0609020204030204" pitchFamily="49" charset="0"/>
              </a:rPr>
              <a:t>(‘MONTH’, </a:t>
            </a:r>
            <a:r>
              <a:rPr lang="fr-FR" b="1" dirty="0" err="1">
                <a:latin typeface="Consolas" panose="020B0609020204030204" pitchFamily="49" charset="0"/>
              </a:rPr>
              <a:t>date_mois</a:t>
            </a:r>
            <a:r>
              <a:rPr lang="fr-FR" b="1" dirty="0">
                <a:latin typeface="Consolas" panose="020B0609020204030204" pitchFamily="49" charset="0"/>
              </a:rPr>
              <a:t>) as mois</a:t>
            </a:r>
            <a:r>
              <a:rPr lang="fr-FR" dirty="0">
                <a:latin typeface="Consolas" panose="020B0609020204030204" pitchFamily="49" charset="0"/>
              </a:rPr>
              <a:t> FROM </a:t>
            </a:r>
            <a:r>
              <a:rPr lang="fr-FR" dirty="0" err="1">
                <a:latin typeface="Consolas" panose="020B0609020204030204" pitchFamily="49" charset="0"/>
              </a:rPr>
              <a:t>releves</a:t>
            </a:r>
            <a:r>
              <a:rPr lang="fr-FR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4F9693A-3450-E1D0-4DD7-28239AE54858}"/>
              </a:ext>
            </a:extLst>
          </p:cNvPr>
          <p:cNvSpPr txBox="1"/>
          <p:nvPr/>
        </p:nvSpPr>
        <p:spPr>
          <a:xfrm>
            <a:off x="9742715" y="1234607"/>
            <a:ext cx="6190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srgbClr val="FF0000"/>
                </a:solidFill>
                <a:sym typeface="Wingdings" panose="05000000000000000000" pitchFamily="2" charset="2"/>
                <a:hlinkClick r:id="rId2"/>
              </a:rPr>
              <a:t>pour aller plus loin</a:t>
            </a:r>
            <a:endParaRPr lang="fr-FR" sz="1800" dirty="0">
              <a:solidFill>
                <a:srgbClr val="FF000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75CE4F3-C094-3893-1909-D34D62119FAC}"/>
              </a:ext>
            </a:extLst>
          </p:cNvPr>
          <p:cNvSpPr txBox="1"/>
          <p:nvPr/>
        </p:nvSpPr>
        <p:spPr>
          <a:xfrm rot="16200000">
            <a:off x="-254816" y="5335422"/>
            <a:ext cx="15111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Pour info</a:t>
            </a:r>
          </a:p>
        </p:txBody>
      </p:sp>
    </p:spTree>
    <p:extLst>
      <p:ext uri="{BB962C8B-B14F-4D97-AF65-F5344CB8AC3E}">
        <p14:creationId xmlns:p14="http://schemas.microsoft.com/office/powerpoint/2010/main" val="123324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  <p:bldP spid="7" grpId="0"/>
      <p:bldP spid="9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- agrégats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11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D202FF3-A70C-5A62-1940-EE703C9B8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3175"/>
            <a:ext cx="10998200" cy="16129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2000" dirty="0">
                <a:latin typeface="+mn-lt"/>
              </a:rPr>
              <a:t>Fonctions communes d’agrégat:</a:t>
            </a:r>
          </a:p>
          <a:p>
            <a:r>
              <a:rPr lang="fr-FR" sz="2000" b="1" dirty="0">
                <a:latin typeface="+mn-lt"/>
              </a:rPr>
              <a:t>min(</a:t>
            </a:r>
            <a:r>
              <a:rPr lang="fr-FR" sz="2000" b="1" i="1" dirty="0">
                <a:latin typeface="+mn-lt"/>
              </a:rPr>
              <a:t>col</a:t>
            </a:r>
            <a:r>
              <a:rPr lang="fr-FR" sz="2000" b="1" dirty="0">
                <a:latin typeface="+mn-lt"/>
              </a:rPr>
              <a:t>), max(</a:t>
            </a:r>
            <a:r>
              <a:rPr lang="fr-FR" sz="2000" b="1" i="1" dirty="0">
                <a:latin typeface="+mn-lt"/>
              </a:rPr>
              <a:t>col</a:t>
            </a:r>
            <a:r>
              <a:rPr lang="fr-FR" sz="2000" b="1" dirty="0">
                <a:latin typeface="+mn-lt"/>
              </a:rPr>
              <a:t>), </a:t>
            </a:r>
            <a:r>
              <a:rPr lang="fr-FR" sz="2000" b="1" dirty="0" err="1">
                <a:latin typeface="+mn-lt"/>
              </a:rPr>
              <a:t>sum</a:t>
            </a:r>
            <a:r>
              <a:rPr lang="fr-FR" sz="2000" b="1" dirty="0">
                <a:latin typeface="+mn-lt"/>
              </a:rPr>
              <a:t>(</a:t>
            </a:r>
            <a:r>
              <a:rPr lang="fr-FR" sz="2000" b="1" i="1" dirty="0">
                <a:latin typeface="+mn-lt"/>
              </a:rPr>
              <a:t>col</a:t>
            </a:r>
            <a:r>
              <a:rPr lang="fr-FR" sz="2000" b="1" dirty="0">
                <a:latin typeface="+mn-lt"/>
              </a:rPr>
              <a:t>), </a:t>
            </a:r>
            <a:r>
              <a:rPr lang="fr-FR" sz="2000" b="1" dirty="0" err="1">
                <a:latin typeface="+mn-lt"/>
              </a:rPr>
              <a:t>avg</a:t>
            </a:r>
            <a:r>
              <a:rPr lang="fr-FR" sz="2000" b="1" dirty="0">
                <a:latin typeface="+mn-lt"/>
              </a:rPr>
              <a:t>(</a:t>
            </a:r>
            <a:r>
              <a:rPr lang="fr-FR" sz="2000" b="1" i="1" dirty="0">
                <a:latin typeface="+mn-lt"/>
              </a:rPr>
              <a:t>col</a:t>
            </a:r>
            <a:r>
              <a:rPr lang="fr-FR" sz="2000" b="1" dirty="0">
                <a:latin typeface="+mn-lt"/>
              </a:rPr>
              <a:t>)</a:t>
            </a:r>
          </a:p>
          <a:p>
            <a:r>
              <a:rPr lang="fr-FR" sz="2000" b="1" dirty="0" err="1">
                <a:latin typeface="+mn-lt"/>
              </a:rPr>
              <a:t>ST_collect</a:t>
            </a:r>
            <a:r>
              <a:rPr lang="fr-FR" sz="2000" b="1" dirty="0">
                <a:latin typeface="+mn-lt"/>
              </a:rPr>
              <a:t>(</a:t>
            </a:r>
            <a:r>
              <a:rPr lang="fr-FR" sz="2000" b="1" i="1" dirty="0">
                <a:latin typeface="+mn-lt"/>
              </a:rPr>
              <a:t>géométrie</a:t>
            </a:r>
            <a:r>
              <a:rPr lang="fr-FR" sz="2000" b="1" dirty="0">
                <a:latin typeface="+mn-lt"/>
              </a:rPr>
              <a:t>), ST_UNION(</a:t>
            </a:r>
            <a:r>
              <a:rPr lang="fr-FR" sz="2000" b="1" i="1" dirty="0">
                <a:latin typeface="+mn-lt"/>
              </a:rPr>
              <a:t>géométrie</a:t>
            </a:r>
            <a:r>
              <a:rPr lang="fr-FR" sz="2000" b="1" dirty="0">
                <a:latin typeface="+mn-lt"/>
              </a:rPr>
              <a:t>)</a:t>
            </a:r>
          </a:p>
          <a:p>
            <a:r>
              <a:rPr lang="fr-FR" sz="2000" b="1" dirty="0" err="1">
                <a:latin typeface="+mn-lt"/>
              </a:rPr>
              <a:t>string_agg</a:t>
            </a:r>
            <a:r>
              <a:rPr lang="fr-FR" sz="2000" b="1" dirty="0">
                <a:latin typeface="+mn-lt"/>
              </a:rPr>
              <a:t>(</a:t>
            </a:r>
            <a:r>
              <a:rPr lang="fr-FR" sz="2000" b="1" i="1" dirty="0">
                <a:latin typeface="+mn-lt"/>
              </a:rPr>
              <a:t>col, </a:t>
            </a:r>
            <a:r>
              <a:rPr lang="fr-FR" sz="2000" b="1" i="1" dirty="0" err="1">
                <a:latin typeface="+mn-lt"/>
              </a:rPr>
              <a:t>separateur</a:t>
            </a:r>
            <a:r>
              <a:rPr lang="fr-FR" sz="2000" b="1" dirty="0">
                <a:latin typeface="+mn-lt"/>
              </a:rPr>
              <a:t>), </a:t>
            </a:r>
            <a:r>
              <a:rPr lang="fr-FR" sz="2000" b="1" dirty="0" err="1">
                <a:latin typeface="+mn-lt"/>
              </a:rPr>
              <a:t>array_agg</a:t>
            </a:r>
            <a:r>
              <a:rPr lang="fr-FR" sz="2000" b="1" dirty="0">
                <a:latin typeface="+mn-lt"/>
              </a:rPr>
              <a:t>(</a:t>
            </a:r>
            <a:r>
              <a:rPr lang="fr-FR" sz="2000" b="1" i="1" dirty="0">
                <a:latin typeface="+mn-lt"/>
              </a:rPr>
              <a:t>col</a:t>
            </a:r>
            <a:r>
              <a:rPr lang="fr-FR" sz="2000" b="1" dirty="0">
                <a:latin typeface="+mn-lt"/>
              </a:rPr>
              <a:t>)</a:t>
            </a:r>
          </a:p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 Peuvent être combinées avec la clause GROUP BY champ1, champ2, </a:t>
            </a:r>
            <a:r>
              <a:rPr lang="fr-FR" sz="2000" b="1" dirty="0" err="1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champX</a:t>
            </a:r>
            <a:endParaRPr lang="fr-FR" sz="2000" b="1" dirty="0">
              <a:solidFill>
                <a:srgbClr val="FF0000"/>
              </a:solidFill>
              <a:latin typeface="+mn-lt"/>
            </a:endParaRPr>
          </a:p>
          <a:p>
            <a:endParaRPr lang="fr-FR" sz="2000" b="1" i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2EBFCA9-3241-B65B-285F-3EC417741250}"/>
              </a:ext>
            </a:extLst>
          </p:cNvPr>
          <p:cNvSpPr txBox="1"/>
          <p:nvPr/>
        </p:nvSpPr>
        <p:spPr>
          <a:xfrm>
            <a:off x="838200" y="3223786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2. Fusionner en une seule géométrie les communes dont le nom contient « MONT-D’OR »</a:t>
            </a:r>
          </a:p>
          <a:p>
            <a:r>
              <a:rPr lang="fr-FR" dirty="0"/>
              <a:t>table </a:t>
            </a:r>
            <a:r>
              <a:rPr lang="fr-FR" i="1" dirty="0" err="1"/>
              <a:t>communes_metrop</a:t>
            </a:r>
            <a:r>
              <a:rPr lang="fr-FR" dirty="0"/>
              <a:t>, champs </a:t>
            </a:r>
            <a:r>
              <a:rPr lang="fr-FR" i="1" dirty="0"/>
              <a:t>nom, </a:t>
            </a:r>
            <a:r>
              <a:rPr lang="fr-FR" i="1" dirty="0" err="1"/>
              <a:t>geom</a:t>
            </a:r>
            <a:r>
              <a:rPr lang="fr-FR" i="1" dirty="0"/>
              <a:t>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199E227-A54E-B7A2-4BD1-3D0758413D72}"/>
              </a:ext>
            </a:extLst>
          </p:cNvPr>
          <p:cNvSpPr txBox="1"/>
          <p:nvPr/>
        </p:nvSpPr>
        <p:spPr>
          <a:xfrm>
            <a:off x="9742715" y="1234607"/>
            <a:ext cx="6190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srgbClr val="FF0000"/>
                </a:solidFill>
                <a:sym typeface="Wingdings" panose="05000000000000000000" pitchFamily="2" charset="2"/>
                <a:hlinkClick r:id="rId2"/>
              </a:rPr>
              <a:t>pour aller plus loin</a:t>
            </a:r>
            <a:endParaRPr lang="fr-FR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25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- agrégats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12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D202FF3-A70C-5A62-1940-EE703C9B8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3175"/>
            <a:ext cx="10998200" cy="16129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2000" dirty="0">
                <a:latin typeface="+mn-lt"/>
              </a:rPr>
              <a:t>Fonctions communes d’agrégat:</a:t>
            </a:r>
          </a:p>
          <a:p>
            <a:r>
              <a:rPr lang="fr-FR" sz="2000" b="1" dirty="0">
                <a:latin typeface="+mn-lt"/>
              </a:rPr>
              <a:t>min(</a:t>
            </a:r>
            <a:r>
              <a:rPr lang="fr-FR" sz="2000" b="1" i="1" dirty="0">
                <a:latin typeface="+mn-lt"/>
              </a:rPr>
              <a:t>col</a:t>
            </a:r>
            <a:r>
              <a:rPr lang="fr-FR" sz="2000" b="1" dirty="0">
                <a:latin typeface="+mn-lt"/>
              </a:rPr>
              <a:t>), max(</a:t>
            </a:r>
            <a:r>
              <a:rPr lang="fr-FR" sz="2000" b="1" i="1" dirty="0">
                <a:latin typeface="+mn-lt"/>
              </a:rPr>
              <a:t>col</a:t>
            </a:r>
            <a:r>
              <a:rPr lang="fr-FR" sz="2000" b="1" dirty="0">
                <a:latin typeface="+mn-lt"/>
              </a:rPr>
              <a:t>), </a:t>
            </a:r>
            <a:r>
              <a:rPr lang="fr-FR" sz="2000" b="1" dirty="0" err="1">
                <a:latin typeface="+mn-lt"/>
              </a:rPr>
              <a:t>sum</a:t>
            </a:r>
            <a:r>
              <a:rPr lang="fr-FR" sz="2000" b="1" dirty="0">
                <a:latin typeface="+mn-lt"/>
              </a:rPr>
              <a:t>(</a:t>
            </a:r>
            <a:r>
              <a:rPr lang="fr-FR" sz="2000" b="1" i="1" dirty="0">
                <a:latin typeface="+mn-lt"/>
              </a:rPr>
              <a:t>col</a:t>
            </a:r>
            <a:r>
              <a:rPr lang="fr-FR" sz="2000" b="1" dirty="0">
                <a:latin typeface="+mn-lt"/>
              </a:rPr>
              <a:t>), </a:t>
            </a:r>
            <a:r>
              <a:rPr lang="fr-FR" sz="2000" b="1" dirty="0" err="1">
                <a:latin typeface="+mn-lt"/>
              </a:rPr>
              <a:t>avg</a:t>
            </a:r>
            <a:r>
              <a:rPr lang="fr-FR" sz="2000" b="1" dirty="0">
                <a:latin typeface="+mn-lt"/>
              </a:rPr>
              <a:t>(</a:t>
            </a:r>
            <a:r>
              <a:rPr lang="fr-FR" sz="2000" b="1" i="1" dirty="0">
                <a:latin typeface="+mn-lt"/>
              </a:rPr>
              <a:t>col</a:t>
            </a:r>
            <a:r>
              <a:rPr lang="fr-FR" sz="2000" b="1" dirty="0">
                <a:latin typeface="+mn-lt"/>
              </a:rPr>
              <a:t>)</a:t>
            </a:r>
          </a:p>
          <a:p>
            <a:r>
              <a:rPr lang="fr-FR" sz="2000" b="1" dirty="0" err="1">
                <a:latin typeface="+mn-lt"/>
              </a:rPr>
              <a:t>ST_collect</a:t>
            </a:r>
            <a:r>
              <a:rPr lang="fr-FR" sz="2000" b="1" dirty="0">
                <a:latin typeface="+mn-lt"/>
              </a:rPr>
              <a:t>(</a:t>
            </a:r>
            <a:r>
              <a:rPr lang="fr-FR" sz="2000" b="1" i="1" dirty="0">
                <a:latin typeface="+mn-lt"/>
              </a:rPr>
              <a:t>géométrie</a:t>
            </a:r>
            <a:r>
              <a:rPr lang="fr-FR" sz="2000" b="1" dirty="0">
                <a:latin typeface="+mn-lt"/>
              </a:rPr>
              <a:t>), ST_UNION(</a:t>
            </a:r>
            <a:r>
              <a:rPr lang="fr-FR" sz="2000" b="1" i="1" dirty="0">
                <a:latin typeface="+mn-lt"/>
              </a:rPr>
              <a:t>géométrie</a:t>
            </a:r>
            <a:r>
              <a:rPr lang="fr-FR" sz="2000" b="1" dirty="0">
                <a:latin typeface="+mn-lt"/>
              </a:rPr>
              <a:t>)</a:t>
            </a:r>
          </a:p>
          <a:p>
            <a:r>
              <a:rPr lang="fr-FR" sz="2000" b="1" dirty="0" err="1">
                <a:latin typeface="+mn-lt"/>
              </a:rPr>
              <a:t>string_agg</a:t>
            </a:r>
            <a:r>
              <a:rPr lang="fr-FR" sz="2000" b="1" dirty="0">
                <a:latin typeface="+mn-lt"/>
              </a:rPr>
              <a:t>(</a:t>
            </a:r>
            <a:r>
              <a:rPr lang="fr-FR" sz="2000" b="1" i="1" dirty="0">
                <a:latin typeface="+mn-lt"/>
              </a:rPr>
              <a:t>col, </a:t>
            </a:r>
            <a:r>
              <a:rPr lang="fr-FR" sz="2000" b="1" i="1" dirty="0" err="1">
                <a:latin typeface="+mn-lt"/>
              </a:rPr>
              <a:t>separateur</a:t>
            </a:r>
            <a:r>
              <a:rPr lang="fr-FR" sz="2000" b="1" dirty="0">
                <a:latin typeface="+mn-lt"/>
              </a:rPr>
              <a:t>), </a:t>
            </a:r>
            <a:r>
              <a:rPr lang="fr-FR" sz="2000" b="1" dirty="0" err="1">
                <a:latin typeface="+mn-lt"/>
              </a:rPr>
              <a:t>array_agg</a:t>
            </a:r>
            <a:r>
              <a:rPr lang="fr-FR" sz="2000" b="1" dirty="0">
                <a:latin typeface="+mn-lt"/>
              </a:rPr>
              <a:t>(</a:t>
            </a:r>
            <a:r>
              <a:rPr lang="fr-FR" sz="2000" b="1" i="1" dirty="0">
                <a:latin typeface="+mn-lt"/>
              </a:rPr>
              <a:t>col</a:t>
            </a:r>
            <a:r>
              <a:rPr lang="fr-FR" sz="2000" b="1" dirty="0">
                <a:latin typeface="+mn-lt"/>
              </a:rPr>
              <a:t>)</a:t>
            </a:r>
          </a:p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 Peuvent être combinées avec la clause GROUP BY champ1, champ2</a:t>
            </a:r>
            <a:endParaRPr lang="fr-FR" sz="2000" b="1" dirty="0">
              <a:solidFill>
                <a:srgbClr val="FF0000"/>
              </a:solidFill>
              <a:latin typeface="+mn-lt"/>
            </a:endParaRPr>
          </a:p>
          <a:p>
            <a:endParaRPr lang="fr-FR" sz="2000" b="1" i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2EBFCA9-3241-B65B-285F-3EC417741250}"/>
              </a:ext>
            </a:extLst>
          </p:cNvPr>
          <p:cNvSpPr txBox="1"/>
          <p:nvPr/>
        </p:nvSpPr>
        <p:spPr>
          <a:xfrm>
            <a:off x="838200" y="3223786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2. Fusionner en une seule géométrie les communes dont le nom contient « MONT-D’OR »</a:t>
            </a:r>
          </a:p>
          <a:p>
            <a:r>
              <a:rPr lang="fr-FR" dirty="0"/>
              <a:t>table </a:t>
            </a:r>
            <a:r>
              <a:rPr lang="fr-FR" i="1" dirty="0" err="1"/>
              <a:t>communes_metrop</a:t>
            </a:r>
            <a:r>
              <a:rPr lang="fr-FR" dirty="0"/>
              <a:t>, champs </a:t>
            </a:r>
            <a:r>
              <a:rPr lang="fr-FR" i="1" dirty="0"/>
              <a:t>nom, </a:t>
            </a:r>
            <a:r>
              <a:rPr lang="fr-FR" i="1" dirty="0" err="1"/>
              <a:t>geom</a:t>
            </a:r>
            <a:r>
              <a:rPr lang="fr-FR" i="1" dirty="0"/>
              <a:t>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0BA919F-4D69-432C-4FE7-5ABE59443F9A}"/>
              </a:ext>
            </a:extLst>
          </p:cNvPr>
          <p:cNvSpPr txBox="1"/>
          <p:nvPr/>
        </p:nvSpPr>
        <p:spPr>
          <a:xfrm>
            <a:off x="838200" y="4088280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SELECT  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string_agg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(nom,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 /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) as noms, 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st_union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geom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) as 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geom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FROM </a:t>
            </a:r>
            <a:r>
              <a:rPr lang="en-US" dirty="0" err="1">
                <a:solidFill>
                  <a:schemeClr val="accent5"/>
                </a:solidFill>
                <a:latin typeface="Consolas" panose="020B0609020204030204" pitchFamily="49" charset="0"/>
              </a:rPr>
              <a:t>communes_metrop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WHERE nom LIKE '%MONT-D''OR%'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;</a:t>
            </a:r>
            <a:endParaRPr lang="fr-FR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199E227-A54E-B7A2-4BD1-3D0758413D72}"/>
              </a:ext>
            </a:extLst>
          </p:cNvPr>
          <p:cNvSpPr txBox="1"/>
          <p:nvPr/>
        </p:nvSpPr>
        <p:spPr>
          <a:xfrm>
            <a:off x="9742715" y="1234607"/>
            <a:ext cx="6190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srgbClr val="FF0000"/>
                </a:solidFill>
                <a:sym typeface="Wingdings" panose="05000000000000000000" pitchFamily="2" charset="2"/>
                <a:hlinkClick r:id="rId2"/>
              </a:rPr>
              <a:t>pour aller plus loin</a:t>
            </a:r>
            <a:endParaRPr lang="fr-FR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60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– Jointures attributaires - exemples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13</a:t>
            </a:fld>
            <a:endParaRPr lang="fr-FR"/>
          </a:p>
        </p:txBody>
      </p: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B40BF84F-895A-03D2-965C-E4EA150FB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3175"/>
            <a:ext cx="10998200" cy="46968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+mn-lt"/>
              </a:rPr>
              <a:t>Trois manières de faire une requête attributaire entre plusieurs tables : </a:t>
            </a:r>
          </a:p>
          <a:p>
            <a:pPr marL="0" indent="0">
              <a:buNone/>
            </a:pPr>
            <a:endParaRPr lang="fr-FR" sz="2400" dirty="0">
              <a:latin typeface="+mn-lt"/>
            </a:endParaRPr>
          </a:p>
          <a:p>
            <a:pPr marL="0" indent="0">
              <a:buNone/>
            </a:pPr>
            <a:r>
              <a:rPr lang="fr-FR" sz="2400" dirty="0">
                <a:latin typeface="+mn-lt"/>
              </a:rPr>
              <a:t>1. Jointure implicite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select * from </a:t>
            </a:r>
            <a:r>
              <a:rPr lang="en-US" sz="2000" b="1" dirty="0">
                <a:solidFill>
                  <a:schemeClr val="accent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table1, table2 </a:t>
            </a:r>
            <a:r>
              <a:rPr lang="en-US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where </a:t>
            </a:r>
            <a:r>
              <a:rPr lang="en-US" sz="2000" b="1" dirty="0">
                <a:solidFill>
                  <a:schemeClr val="accent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table1.id = table2.id </a:t>
            </a:r>
            <a:r>
              <a:rPr lang="en-US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and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conditions</a:t>
            </a:r>
            <a:r>
              <a:rPr lang="en-US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;</a:t>
            </a:r>
          </a:p>
          <a:p>
            <a:pPr marL="0" indent="0">
              <a:buNone/>
            </a:pPr>
            <a:endParaRPr lang="en-US" sz="2000" b="1" dirty="0"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2400" dirty="0">
                <a:solidFill>
                  <a:prstClr val="black"/>
                </a:solidFill>
                <a:latin typeface="Aptos" panose="02110004020202020204"/>
              </a:rPr>
              <a:t>2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Jointure explicite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select * from </a:t>
            </a:r>
            <a:r>
              <a:rPr lang="en-US" sz="2000" b="1" dirty="0">
                <a:solidFill>
                  <a:schemeClr val="accent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table1 JOIN table2 ON table1.id = table2.id </a:t>
            </a:r>
            <a:r>
              <a:rPr lang="en-US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where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condition</a:t>
            </a:r>
            <a:r>
              <a:rPr lang="en-US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;</a:t>
            </a:r>
          </a:p>
          <a:p>
            <a:pPr marL="0" indent="0">
              <a:buNone/>
            </a:pPr>
            <a:endParaRPr lang="en-US" sz="2000" b="1" dirty="0"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FR" sz="2400" dirty="0">
                <a:solidFill>
                  <a:prstClr val="black"/>
                </a:solidFill>
                <a:latin typeface="Aptos" panose="02110004020202020204"/>
              </a:rPr>
              <a:t>3. Jointure avec une sous-requête</a:t>
            </a:r>
            <a:endParaRPr lang="en-US" sz="2000" b="1" dirty="0"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select * from </a:t>
            </a:r>
            <a:r>
              <a:rPr lang="en-US" sz="2000" b="1" dirty="0">
                <a:solidFill>
                  <a:schemeClr val="accent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table1</a:t>
            </a:r>
            <a:r>
              <a:rPr lang="en-US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 where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table1.id </a:t>
            </a:r>
            <a:r>
              <a:rPr lang="en-US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IN (SELECT id from table2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						WHERE condition);</a:t>
            </a:r>
            <a:endParaRPr lang="fr-FR" sz="2000" b="1" dirty="0">
              <a:solidFill>
                <a:srgbClr val="FF0000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endParaRPr lang="fr-FR" sz="2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450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– Jointures attributaires - exemples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14</a:t>
            </a:fld>
            <a:endParaRPr lang="fr-FR"/>
          </a:p>
        </p:txBody>
      </p:sp>
      <p:pic>
        <p:nvPicPr>
          <p:cNvPr id="10" name="Image 9" descr="Une image contenant texte, capture d’écran, Police, diagramme&#10;&#10;Description générée automatiquement">
            <a:extLst>
              <a:ext uri="{FF2B5EF4-FFF2-40B4-BE49-F238E27FC236}">
                <a16:creationId xmlns:a16="http://schemas.microsoft.com/office/drawing/2014/main" id="{869599B0-E3FD-F2BE-9CE8-CE7DBA388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100" y="980914"/>
            <a:ext cx="8796180" cy="532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295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– jointures attributaires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15</a:t>
            </a:fld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2EBFCA9-3241-B65B-285F-3EC417741250}"/>
              </a:ext>
            </a:extLst>
          </p:cNvPr>
          <p:cNvSpPr txBox="1"/>
          <p:nvPr/>
        </p:nvSpPr>
        <p:spPr>
          <a:xfrm>
            <a:off x="838200" y="1540336"/>
            <a:ext cx="10799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dirty="0"/>
              <a:t>Afficher les noms des capteurs et les précipitations enregistrées en </a:t>
            </a:r>
            <a:r>
              <a:rPr lang="fr-FR" b="1" dirty="0"/>
              <a:t>aout 2017, </a:t>
            </a:r>
            <a:r>
              <a:rPr lang="fr-FR" dirty="0"/>
              <a:t>les trier par volume de précipitation décroissant.</a:t>
            </a:r>
            <a:endParaRPr lang="fr-FR" b="1" dirty="0"/>
          </a:p>
          <a:p>
            <a:endParaRPr lang="fr-FR" b="1" i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57AF0CA-7E38-2E6D-5A85-3CE060936853}"/>
              </a:ext>
            </a:extLst>
          </p:cNvPr>
          <p:cNvSpPr txBox="1"/>
          <p:nvPr/>
        </p:nvSpPr>
        <p:spPr>
          <a:xfrm>
            <a:off x="838200" y="3328050"/>
            <a:ext cx="1079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2. Un capteur n’a pas de précipitations associées, de quel capteur s’agit-il?</a:t>
            </a:r>
            <a:endParaRPr lang="fr-FR" i="1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94E92C2-7E14-A03E-59DB-45C2484E1836}"/>
              </a:ext>
            </a:extLst>
          </p:cNvPr>
          <p:cNvSpPr txBox="1"/>
          <p:nvPr/>
        </p:nvSpPr>
        <p:spPr>
          <a:xfrm>
            <a:off x="838200" y="4697578"/>
            <a:ext cx="1079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3. Afficher les cumuls de précipitation annuels pour le capteur « Villeurbanne », dans l’ordre chronologique</a:t>
            </a:r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194318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– jointures attributaires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16</a:t>
            </a:fld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2EBFCA9-3241-B65B-285F-3EC417741250}"/>
              </a:ext>
            </a:extLst>
          </p:cNvPr>
          <p:cNvSpPr txBox="1"/>
          <p:nvPr/>
        </p:nvSpPr>
        <p:spPr>
          <a:xfrm>
            <a:off x="838200" y="1540336"/>
            <a:ext cx="10799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dirty="0"/>
              <a:t>Afficher les noms des capteurs et les précipitations enregistrées en </a:t>
            </a:r>
            <a:r>
              <a:rPr lang="fr-FR" b="1" dirty="0"/>
              <a:t>aout 2017, </a:t>
            </a:r>
            <a:r>
              <a:rPr lang="fr-FR" dirty="0"/>
              <a:t>les trier par volume de précipitation décroissant.</a:t>
            </a:r>
            <a:endParaRPr lang="fr-FR" b="1" dirty="0"/>
          </a:p>
          <a:p>
            <a:endParaRPr lang="fr-FR" b="1" i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0BA919F-4D69-432C-4FE7-5ABE59443F9A}"/>
              </a:ext>
            </a:extLst>
          </p:cNvPr>
          <p:cNvSpPr txBox="1"/>
          <p:nvPr/>
        </p:nvSpPr>
        <p:spPr>
          <a:xfrm>
            <a:off x="838200" y="2303021"/>
            <a:ext cx="107996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SELECT </a:t>
            </a:r>
            <a:r>
              <a:rPr lang="en-US" dirty="0" err="1">
                <a:latin typeface="Consolas" panose="020B0609020204030204" pitchFamily="49" charset="0"/>
              </a:rPr>
              <a:t>capteurs.nom</a:t>
            </a:r>
            <a:r>
              <a:rPr lang="en-US" dirty="0">
                <a:latin typeface="Consolas" panose="020B0609020204030204" pitchFamily="49" charset="0"/>
              </a:rPr>
              <a:t>, releves.* </a:t>
            </a:r>
          </a:p>
          <a:p>
            <a:r>
              <a:rPr lang="en-US" dirty="0">
                <a:latin typeface="Consolas" panose="020B0609020204030204" pitchFamily="49" charset="0"/>
              </a:rPr>
              <a:t>FROM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capteurs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INNER JOIN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releves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ON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releves.id_capteur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= capteurs.id </a:t>
            </a:r>
          </a:p>
          <a:p>
            <a:r>
              <a:rPr lang="en-US" dirty="0">
                <a:latin typeface="Consolas" panose="020B0609020204030204" pitchFamily="49" charset="0"/>
              </a:rPr>
              <a:t>WHERE </a:t>
            </a:r>
            <a:r>
              <a:rPr lang="en-US" dirty="0" err="1">
                <a:latin typeface="Consolas" panose="020B0609020204030204" pitchFamily="49" charset="0"/>
              </a:rPr>
              <a:t>annee</a:t>
            </a:r>
            <a:r>
              <a:rPr lang="en-US" dirty="0">
                <a:latin typeface="Consolas" panose="020B0609020204030204" pitchFamily="49" charset="0"/>
              </a:rPr>
              <a:t> = 2017 AND </a:t>
            </a:r>
            <a:r>
              <a:rPr lang="en-US" dirty="0" err="1">
                <a:latin typeface="Consolas" panose="020B0609020204030204" pitchFamily="49" charset="0"/>
              </a:rPr>
              <a:t>mois</a:t>
            </a:r>
            <a:r>
              <a:rPr lang="en-US" dirty="0">
                <a:latin typeface="Consolas" panose="020B0609020204030204" pitchFamily="49" charset="0"/>
              </a:rPr>
              <a:t> = 8</a:t>
            </a:r>
          </a:p>
          <a:p>
            <a:r>
              <a:rPr lang="en-US" dirty="0">
                <a:latin typeface="Consolas" panose="020B0609020204030204" pitchFamily="49" charset="0"/>
              </a:rPr>
              <a:t>ORDER BY </a:t>
            </a:r>
            <a:r>
              <a:rPr lang="en-US" dirty="0" err="1">
                <a:latin typeface="Consolas" panose="020B0609020204030204" pitchFamily="49" charset="0"/>
              </a:rPr>
              <a:t>releves.precipitation</a:t>
            </a:r>
            <a:r>
              <a:rPr lang="en-US" dirty="0">
                <a:latin typeface="Consolas" panose="020B0609020204030204" pitchFamily="49" charset="0"/>
              </a:rPr>
              <a:t> desc;</a:t>
            </a:r>
            <a:endParaRPr lang="fr-F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590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– jointures attributaires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17</a:t>
            </a:fld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57AF0CA-7E38-2E6D-5A85-3CE060936853}"/>
              </a:ext>
            </a:extLst>
          </p:cNvPr>
          <p:cNvSpPr txBox="1"/>
          <p:nvPr/>
        </p:nvSpPr>
        <p:spPr>
          <a:xfrm>
            <a:off x="838200" y="2320121"/>
            <a:ext cx="1079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2. Un capteur n’a pas de précipitations associées, de quel capteur s’agit-il?</a:t>
            </a:r>
            <a:endParaRPr lang="fr-FR" i="1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3AC0B44-7377-17D1-527E-E82B923281C9}"/>
              </a:ext>
            </a:extLst>
          </p:cNvPr>
          <p:cNvSpPr txBox="1"/>
          <p:nvPr/>
        </p:nvSpPr>
        <p:spPr>
          <a:xfrm>
            <a:off x="838200" y="3100100"/>
            <a:ext cx="10799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SELECT </a:t>
            </a:r>
            <a:r>
              <a:rPr lang="en-US" dirty="0" err="1">
                <a:latin typeface="Consolas" panose="020B0609020204030204" pitchFamily="49" charset="0"/>
              </a:rPr>
              <a:t>capteurs.nom</a:t>
            </a:r>
            <a:r>
              <a:rPr lang="en-US" dirty="0">
                <a:latin typeface="Consolas" panose="020B0609020204030204" pitchFamily="49" charset="0"/>
              </a:rPr>
              <a:t> FROM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capteurs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LEFT JOIN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releves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ON capteurs.id =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releves.id_capteur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WHERE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releves.id_capteur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is null;</a:t>
            </a:r>
            <a:endParaRPr lang="fr-FR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1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– jointures attributaires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18</a:t>
            </a:fld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94E92C2-7E14-A03E-59DB-45C2484E1836}"/>
              </a:ext>
            </a:extLst>
          </p:cNvPr>
          <p:cNvSpPr txBox="1"/>
          <p:nvPr/>
        </p:nvSpPr>
        <p:spPr>
          <a:xfrm>
            <a:off x="896257" y="2319886"/>
            <a:ext cx="1079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3. Afficher les cumuls de précipitation annuels pour le capteur « Villeurbanne », dans l’ordre chronologique</a:t>
            </a:r>
            <a:endParaRPr lang="fr-FR" i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D834F1E-FE8E-2F9D-6794-6B9C4284AE1B}"/>
              </a:ext>
            </a:extLst>
          </p:cNvPr>
          <p:cNvSpPr txBox="1"/>
          <p:nvPr/>
        </p:nvSpPr>
        <p:spPr>
          <a:xfrm>
            <a:off x="896257" y="2844411"/>
            <a:ext cx="107996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SELECT  </a:t>
            </a:r>
            <a:r>
              <a:rPr lang="en-US" dirty="0" err="1">
                <a:latin typeface="Consolas" panose="020B0609020204030204" pitchFamily="49" charset="0"/>
              </a:rPr>
              <a:t>capteurs.nom</a:t>
            </a:r>
            <a:r>
              <a:rPr lang="en-US" dirty="0">
                <a:latin typeface="Consolas" panose="020B0609020204030204" pitchFamily="49" charset="0"/>
              </a:rPr>
              <a:t>, sum(precipitation) as </a:t>
            </a:r>
            <a:r>
              <a:rPr lang="en-US" dirty="0" err="1">
                <a:latin typeface="Consolas" panose="020B0609020204030204" pitchFamily="49" charset="0"/>
              </a:rPr>
              <a:t>cumul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annee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</a:rPr>
              <a:t>FROM </a:t>
            </a:r>
            <a:r>
              <a:rPr lang="en-US" dirty="0" err="1">
                <a:latin typeface="Consolas" panose="020B0609020204030204" pitchFamily="49" charset="0"/>
              </a:rPr>
              <a:t>capteurs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INNER JOIN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releves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ON capteurs.id =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releves.id_capteur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</a:rPr>
              <a:t>WHERE </a:t>
            </a:r>
            <a:r>
              <a:rPr lang="en-US" dirty="0" err="1">
                <a:latin typeface="Consolas" panose="020B0609020204030204" pitchFamily="49" charset="0"/>
              </a:rPr>
              <a:t>capteurs.nom</a:t>
            </a:r>
            <a:r>
              <a:rPr lang="en-US" dirty="0">
                <a:latin typeface="Consolas" panose="020B0609020204030204" pitchFamily="49" charset="0"/>
              </a:rPr>
              <a:t> = 'Villeurbanne' </a:t>
            </a:r>
          </a:p>
          <a:p>
            <a:r>
              <a:rPr lang="en-US" dirty="0">
                <a:latin typeface="Consolas" panose="020B0609020204030204" pitchFamily="49" charset="0"/>
              </a:rPr>
              <a:t>GROUP BY </a:t>
            </a:r>
            <a:r>
              <a:rPr lang="en-US" dirty="0" err="1">
                <a:latin typeface="Consolas" panose="020B0609020204030204" pitchFamily="49" charset="0"/>
              </a:rPr>
              <a:t>annee</a:t>
            </a:r>
            <a:r>
              <a:rPr lang="en-US" dirty="0">
                <a:latin typeface="Consolas" panose="020B0609020204030204" pitchFamily="49" charset="0"/>
              </a:rPr>
              <a:t>, nom </a:t>
            </a:r>
          </a:p>
          <a:p>
            <a:r>
              <a:rPr lang="en-US" dirty="0">
                <a:latin typeface="Consolas" panose="020B0609020204030204" pitchFamily="49" charset="0"/>
              </a:rPr>
              <a:t>ORDER BY </a:t>
            </a:r>
            <a:r>
              <a:rPr lang="en-US" dirty="0" err="1">
                <a:latin typeface="Consolas" panose="020B0609020204030204" pitchFamily="49" charset="0"/>
              </a:rPr>
              <a:t>annee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asc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fr-FR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307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– jointures spatiales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19</a:t>
            </a:fld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2EBFCA9-3241-B65B-285F-3EC417741250}"/>
              </a:ext>
            </a:extLst>
          </p:cNvPr>
          <p:cNvSpPr txBox="1"/>
          <p:nvPr/>
        </p:nvSpPr>
        <p:spPr>
          <a:xfrm>
            <a:off x="696191" y="3091542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dirty="0"/>
              <a:t>Afficher, pour chaque capteur, sa commune d’appartenance et sa position (adresse, coordonnées)</a:t>
            </a:r>
            <a:endParaRPr lang="fr-FR" b="1" dirty="0"/>
          </a:p>
          <a:p>
            <a:endParaRPr lang="fr-FR" b="1" i="1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09D686-8086-15BC-0F26-23010297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6775"/>
            <a:ext cx="10998200" cy="22828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+mn-lt"/>
              </a:rPr>
              <a:t>fonctions communes de jointure spatiale (</a:t>
            </a:r>
            <a:r>
              <a:rPr lang="fr-FR" sz="2400" dirty="0" err="1">
                <a:latin typeface="+mn-lt"/>
              </a:rPr>
              <a:t>PostGIS</a:t>
            </a:r>
            <a:r>
              <a:rPr lang="fr-FR" sz="2400" dirty="0">
                <a:latin typeface="+mn-lt"/>
              </a:rPr>
              <a:t>):</a:t>
            </a:r>
          </a:p>
          <a:p>
            <a:r>
              <a:rPr lang="fr-FR" sz="2000" b="1" dirty="0" err="1">
                <a:latin typeface="+mn-lt"/>
              </a:rPr>
              <a:t>ST_intersects</a:t>
            </a:r>
            <a:r>
              <a:rPr lang="fr-FR" sz="2000" dirty="0">
                <a:latin typeface="+mn-lt"/>
              </a:rPr>
              <a:t>(geom1, geom2) : geom1 et geom2 s’intersectent</a:t>
            </a:r>
          </a:p>
          <a:p>
            <a:r>
              <a:rPr lang="fr-FR" sz="2000" b="1" dirty="0" err="1">
                <a:latin typeface="+mn-lt"/>
              </a:rPr>
              <a:t>ST_Touches</a:t>
            </a:r>
            <a:r>
              <a:rPr lang="fr-FR" sz="2000" dirty="0">
                <a:latin typeface="+mn-lt"/>
              </a:rPr>
              <a:t>(geom1, geom2) : les deux géométries se touchent sans se croiser</a:t>
            </a:r>
          </a:p>
          <a:p>
            <a:r>
              <a:rPr lang="fr-FR" sz="2000" b="1" dirty="0" err="1">
                <a:latin typeface="+mn-lt"/>
              </a:rPr>
              <a:t>ST_Contains</a:t>
            </a:r>
            <a:r>
              <a:rPr lang="fr-FR" sz="2000" dirty="0">
                <a:latin typeface="+mn-lt"/>
              </a:rPr>
              <a:t>(geom1, geom2) : la géométrie 2 est contenue dans la géométrie 1</a:t>
            </a:r>
          </a:p>
          <a:p>
            <a:r>
              <a:rPr lang="fr-FR" sz="2000" b="1" dirty="0" err="1">
                <a:latin typeface="+mn-lt"/>
              </a:rPr>
              <a:t>ST_Overlaps</a:t>
            </a:r>
            <a:r>
              <a:rPr lang="fr-FR" sz="2000" dirty="0">
                <a:latin typeface="+mn-lt"/>
              </a:rPr>
              <a:t>(geom1, geom2) : les deux géométries se chevauchent sans se contenir</a:t>
            </a:r>
          </a:p>
          <a:p>
            <a:pPr marL="0" indent="0">
              <a:buNone/>
            </a:pPr>
            <a:endParaRPr lang="fr-FR" sz="2000" b="1" dirty="0">
              <a:solidFill>
                <a:srgbClr val="FF0000"/>
              </a:solidFill>
              <a:latin typeface="+mn-lt"/>
              <a:sym typeface="Wingdings" panose="05000000000000000000" pitchFamily="2" charset="2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01BF375-2132-2653-C904-E31C731DDB91}"/>
              </a:ext>
            </a:extLst>
          </p:cNvPr>
          <p:cNvSpPr txBox="1"/>
          <p:nvPr/>
        </p:nvSpPr>
        <p:spPr>
          <a:xfrm>
            <a:off x="693058" y="4289747"/>
            <a:ext cx="10799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2. Pour chaque commune, donner son nombre de ménage (champ men de la table pop_200), </a:t>
            </a:r>
            <a:r>
              <a:rPr lang="fr-FR" b="1" dirty="0"/>
              <a:t>Attention au piège.</a:t>
            </a:r>
          </a:p>
          <a:p>
            <a:endParaRPr lang="fr-FR" b="1" i="1" dirty="0"/>
          </a:p>
        </p:txBody>
      </p:sp>
    </p:spTree>
    <p:extLst>
      <p:ext uri="{BB962C8B-B14F-4D97-AF65-F5344CB8AC3E}">
        <p14:creationId xmlns:p14="http://schemas.microsoft.com/office/powerpoint/2010/main" val="279621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– jointures spatiales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20</a:t>
            </a:fld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2EBFCA9-3241-B65B-285F-3EC417741250}"/>
              </a:ext>
            </a:extLst>
          </p:cNvPr>
          <p:cNvSpPr txBox="1"/>
          <p:nvPr/>
        </p:nvSpPr>
        <p:spPr>
          <a:xfrm>
            <a:off x="696191" y="3374842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dirty="0"/>
              <a:t>Afficher, pour chaque capteur, sa commune d’appartenance et sa position (adresse, coordonnées)</a:t>
            </a:r>
            <a:endParaRPr lang="fr-FR" b="1" dirty="0"/>
          </a:p>
          <a:p>
            <a:endParaRPr lang="fr-FR" b="1" i="1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09D686-8086-15BC-0F26-23010297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6775"/>
            <a:ext cx="10998200" cy="22828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+mn-lt"/>
              </a:rPr>
              <a:t>fonctions communes de jointure spatiale (</a:t>
            </a:r>
            <a:r>
              <a:rPr lang="fr-FR" sz="2400" dirty="0" err="1">
                <a:latin typeface="+mn-lt"/>
              </a:rPr>
              <a:t>PostGIS</a:t>
            </a:r>
            <a:r>
              <a:rPr lang="fr-FR" sz="2400" dirty="0">
                <a:latin typeface="+mn-lt"/>
              </a:rPr>
              <a:t>):</a:t>
            </a:r>
          </a:p>
          <a:p>
            <a:r>
              <a:rPr lang="fr-FR" sz="2000" b="1" dirty="0" err="1">
                <a:latin typeface="+mn-lt"/>
              </a:rPr>
              <a:t>ST_intersects</a:t>
            </a:r>
            <a:r>
              <a:rPr lang="fr-FR" sz="2000" dirty="0">
                <a:latin typeface="+mn-lt"/>
              </a:rPr>
              <a:t>(geom1, geom2) : geom1 et geom2 s’intersectent</a:t>
            </a:r>
          </a:p>
          <a:p>
            <a:r>
              <a:rPr lang="fr-FR" sz="2000" b="1" dirty="0" err="1">
                <a:latin typeface="+mn-lt"/>
              </a:rPr>
              <a:t>ST_Touches</a:t>
            </a:r>
            <a:r>
              <a:rPr lang="fr-FR" sz="2000" dirty="0">
                <a:latin typeface="+mn-lt"/>
              </a:rPr>
              <a:t>(geom1, geom2) : les deux géométries se touchent sans se croiser</a:t>
            </a:r>
          </a:p>
          <a:p>
            <a:r>
              <a:rPr lang="fr-FR" sz="2000" b="1" dirty="0" err="1">
                <a:latin typeface="+mn-lt"/>
              </a:rPr>
              <a:t>ST_Contains</a:t>
            </a:r>
            <a:r>
              <a:rPr lang="fr-FR" sz="2000" dirty="0">
                <a:latin typeface="+mn-lt"/>
              </a:rPr>
              <a:t>(geom1, geom2) : la géométrie 2 est contenue dans la géométrie 1</a:t>
            </a:r>
          </a:p>
          <a:p>
            <a:r>
              <a:rPr lang="fr-FR" sz="2000" b="1" dirty="0" err="1">
                <a:latin typeface="+mn-lt"/>
              </a:rPr>
              <a:t>ST_Overlaps</a:t>
            </a:r>
            <a:r>
              <a:rPr lang="fr-FR" sz="2000" dirty="0">
                <a:latin typeface="+mn-lt"/>
              </a:rPr>
              <a:t>(geom1, geom2) : les deux géométries se chevauchent sans se contenir</a:t>
            </a:r>
          </a:p>
          <a:p>
            <a:pPr marL="0" indent="0">
              <a:buNone/>
            </a:pPr>
            <a:endParaRPr lang="fr-FR" sz="2000" b="1" dirty="0">
              <a:solidFill>
                <a:srgbClr val="FF0000"/>
              </a:solidFill>
              <a:latin typeface="+mn-lt"/>
              <a:sym typeface="Wingdings" panose="05000000000000000000" pitchFamily="2" charset="2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0525332-A2EE-F55F-9FE9-3B25C72D6EA3}"/>
              </a:ext>
            </a:extLst>
          </p:cNvPr>
          <p:cNvSpPr txBox="1"/>
          <p:nvPr/>
        </p:nvSpPr>
        <p:spPr>
          <a:xfrm>
            <a:off x="696191" y="4021173"/>
            <a:ext cx="109981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Consolas" panose="020B0609020204030204" pitchFamily="49" charset="0"/>
              </a:rPr>
              <a:t>SELECT </a:t>
            </a:r>
            <a:r>
              <a:rPr lang="fr-FR" dirty="0" err="1">
                <a:latin typeface="Consolas" panose="020B0609020204030204" pitchFamily="49" charset="0"/>
              </a:rPr>
              <a:t>comm.nom</a:t>
            </a:r>
            <a:r>
              <a:rPr lang="fr-FR" dirty="0">
                <a:latin typeface="Consolas" panose="020B0609020204030204" pitchFamily="49" charset="0"/>
              </a:rPr>
              <a:t> as commune, </a:t>
            </a:r>
            <a:r>
              <a:rPr lang="fr-FR" dirty="0" err="1">
                <a:latin typeface="Consolas" panose="020B0609020204030204" pitchFamily="49" charset="0"/>
              </a:rPr>
              <a:t>capteurs.adresse</a:t>
            </a:r>
            <a:r>
              <a:rPr lang="fr-FR" dirty="0">
                <a:latin typeface="Consolas" panose="020B0609020204030204" pitchFamily="49" charset="0"/>
              </a:rPr>
              <a:t> as adresse, y, x FROM </a:t>
            </a:r>
            <a:r>
              <a:rPr lang="fr-FR" dirty="0" err="1">
                <a:latin typeface="Consolas" panose="020B0609020204030204" pitchFamily="49" charset="0"/>
              </a:rPr>
              <a:t>communes_metrop</a:t>
            </a:r>
            <a:r>
              <a:rPr lang="fr-FR" dirty="0">
                <a:latin typeface="Consolas" panose="020B0609020204030204" pitchFamily="49" charset="0"/>
              </a:rPr>
              <a:t> </a:t>
            </a:r>
            <a:r>
              <a:rPr lang="fr-FR" dirty="0" err="1">
                <a:latin typeface="Consolas" panose="020B0609020204030204" pitchFamily="49" charset="0"/>
              </a:rPr>
              <a:t>comm</a:t>
            </a:r>
            <a:r>
              <a:rPr lang="fr-FR" dirty="0"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FF0000"/>
                </a:solidFill>
                <a:latin typeface="Consolas" panose="020B0609020204030204" pitchFamily="49" charset="0"/>
              </a:rPr>
              <a:t>INNER JOIN capteurs </a:t>
            </a:r>
            <a:r>
              <a:rPr lang="fr-FR" dirty="0">
                <a:latin typeface="Consolas" panose="020B0609020204030204" pitchFamily="49" charset="0"/>
              </a:rPr>
              <a:t>ON 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ST_CONTAINS(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comm.geom,capteurs.geom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);</a:t>
            </a:r>
          </a:p>
          <a:p>
            <a:endParaRPr lang="fr-FR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fr-FR" b="1" dirty="0">
                <a:latin typeface="Consolas" panose="020B0609020204030204" pitchFamily="49" charset="0"/>
              </a:rPr>
              <a:t>...Qui donne le même résultat que: </a:t>
            </a:r>
          </a:p>
          <a:p>
            <a:endParaRPr lang="fr-FR" dirty="0">
              <a:latin typeface="Consolas" panose="020B0609020204030204" pitchFamily="49" charset="0"/>
            </a:endParaRPr>
          </a:p>
          <a:p>
            <a:r>
              <a:rPr lang="fr-FR" dirty="0">
                <a:latin typeface="Consolas" panose="020B0609020204030204" pitchFamily="49" charset="0"/>
              </a:rPr>
              <a:t>SELECT </a:t>
            </a:r>
            <a:r>
              <a:rPr lang="fr-FR" dirty="0" err="1">
                <a:latin typeface="Consolas" panose="020B0609020204030204" pitchFamily="49" charset="0"/>
              </a:rPr>
              <a:t>comm.nom</a:t>
            </a:r>
            <a:r>
              <a:rPr lang="fr-FR" dirty="0">
                <a:latin typeface="Consolas" panose="020B0609020204030204" pitchFamily="49" charset="0"/>
              </a:rPr>
              <a:t> as commune, </a:t>
            </a:r>
            <a:r>
              <a:rPr lang="fr-FR" dirty="0" err="1">
                <a:latin typeface="Consolas" panose="020B0609020204030204" pitchFamily="49" charset="0"/>
              </a:rPr>
              <a:t>capteurs.adresse</a:t>
            </a:r>
            <a:r>
              <a:rPr lang="fr-FR" dirty="0">
                <a:latin typeface="Consolas" panose="020B0609020204030204" pitchFamily="49" charset="0"/>
              </a:rPr>
              <a:t> as adresse, y, x FROM </a:t>
            </a:r>
            <a:r>
              <a:rPr lang="fr-FR" dirty="0" err="1">
                <a:latin typeface="Consolas" panose="020B0609020204030204" pitchFamily="49" charset="0"/>
              </a:rPr>
              <a:t>communes_metrop</a:t>
            </a:r>
            <a:r>
              <a:rPr lang="fr-FR" dirty="0">
                <a:latin typeface="Consolas" panose="020B0609020204030204" pitchFamily="49" charset="0"/>
              </a:rPr>
              <a:t> </a:t>
            </a:r>
            <a:r>
              <a:rPr lang="fr-FR" dirty="0" err="1">
                <a:latin typeface="Consolas" panose="020B0609020204030204" pitchFamily="49" charset="0"/>
              </a:rPr>
              <a:t>comm</a:t>
            </a:r>
            <a:r>
              <a:rPr lang="fr-FR" dirty="0">
                <a:latin typeface="Consolas" panose="020B0609020204030204" pitchFamily="49" charset="0"/>
              </a:rPr>
              <a:t>, capteurs </a:t>
            </a:r>
            <a:r>
              <a:rPr lang="fr-FR" dirty="0">
                <a:solidFill>
                  <a:srgbClr val="FF0000"/>
                </a:solidFill>
                <a:latin typeface="Consolas" panose="020B0609020204030204" pitchFamily="49" charset="0"/>
              </a:rPr>
              <a:t>WHERE</a:t>
            </a:r>
            <a:r>
              <a:rPr lang="fr-FR" dirty="0"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ST_CONTAINS(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comm.geom,capteurs.geom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);</a:t>
            </a:r>
          </a:p>
          <a:p>
            <a:endParaRPr lang="fr-FR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04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– jointures spatiales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21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09D686-8086-15BC-0F26-23010297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6775"/>
            <a:ext cx="10998200" cy="22828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+mn-lt"/>
              </a:rPr>
              <a:t>fonctions communes de jointure spatiale (</a:t>
            </a:r>
            <a:r>
              <a:rPr lang="fr-FR" sz="2400" dirty="0" err="1">
                <a:latin typeface="+mn-lt"/>
              </a:rPr>
              <a:t>PostGIS</a:t>
            </a:r>
            <a:r>
              <a:rPr lang="fr-FR" sz="2400" dirty="0">
                <a:latin typeface="+mn-lt"/>
              </a:rPr>
              <a:t>):</a:t>
            </a:r>
          </a:p>
          <a:p>
            <a:r>
              <a:rPr lang="fr-FR" sz="2000" b="1" dirty="0" err="1">
                <a:latin typeface="+mn-lt"/>
              </a:rPr>
              <a:t>ST_intersects</a:t>
            </a:r>
            <a:r>
              <a:rPr lang="fr-FR" sz="2000" dirty="0">
                <a:latin typeface="+mn-lt"/>
              </a:rPr>
              <a:t>(geom1, geom2) : geom1 et geom2 s’intersectent</a:t>
            </a:r>
          </a:p>
          <a:p>
            <a:r>
              <a:rPr lang="fr-FR" sz="2000" b="1" dirty="0" err="1">
                <a:latin typeface="+mn-lt"/>
              </a:rPr>
              <a:t>ST_Touches</a:t>
            </a:r>
            <a:r>
              <a:rPr lang="fr-FR" sz="2000" dirty="0">
                <a:latin typeface="+mn-lt"/>
              </a:rPr>
              <a:t>(geom1, geom2) : les deux géométries se touchent sans se croiser</a:t>
            </a:r>
          </a:p>
          <a:p>
            <a:r>
              <a:rPr lang="fr-FR" sz="2000" b="1" dirty="0" err="1">
                <a:latin typeface="+mn-lt"/>
              </a:rPr>
              <a:t>ST_Contains</a:t>
            </a:r>
            <a:r>
              <a:rPr lang="fr-FR" sz="2000" dirty="0">
                <a:latin typeface="+mn-lt"/>
              </a:rPr>
              <a:t>(geom1, geom2) : la géométrie 2 est contenue dans la géométrie 1</a:t>
            </a:r>
          </a:p>
          <a:p>
            <a:r>
              <a:rPr lang="fr-FR" sz="2000" b="1" dirty="0" err="1">
                <a:latin typeface="+mn-lt"/>
              </a:rPr>
              <a:t>ST_Overlaps</a:t>
            </a:r>
            <a:r>
              <a:rPr lang="fr-FR" sz="2000" dirty="0">
                <a:latin typeface="+mn-lt"/>
              </a:rPr>
              <a:t>(geom1, geom2) : les deux géométries se chevauchent sans se contenir</a:t>
            </a:r>
          </a:p>
          <a:p>
            <a:pPr marL="0" indent="0">
              <a:buNone/>
            </a:pPr>
            <a:endParaRPr lang="fr-FR" sz="2000" b="1" dirty="0">
              <a:solidFill>
                <a:srgbClr val="FF0000"/>
              </a:solidFill>
              <a:latin typeface="+mn-lt"/>
              <a:sym typeface="Wingdings" panose="05000000000000000000" pitchFamily="2" charset="2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01BF375-2132-2653-C904-E31C731DDB91}"/>
              </a:ext>
            </a:extLst>
          </p:cNvPr>
          <p:cNvSpPr txBox="1"/>
          <p:nvPr/>
        </p:nvSpPr>
        <p:spPr>
          <a:xfrm>
            <a:off x="696191" y="3338540"/>
            <a:ext cx="10799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2. Pour chaque commune, donner son nombre de ménage (champ men de la table pop_200), </a:t>
            </a:r>
            <a:r>
              <a:rPr lang="fr-FR" b="1" dirty="0"/>
              <a:t>Attention au piège.</a:t>
            </a:r>
          </a:p>
          <a:p>
            <a:endParaRPr lang="fr-FR" b="1" i="1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0814CDE-FF98-D314-97A5-98A670A4E574}"/>
              </a:ext>
            </a:extLst>
          </p:cNvPr>
          <p:cNvSpPr txBox="1"/>
          <p:nvPr/>
        </p:nvSpPr>
        <p:spPr>
          <a:xfrm>
            <a:off x="523874" y="4134386"/>
            <a:ext cx="114549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Consolas" panose="020B0609020204030204" pitchFamily="49" charset="0"/>
              </a:rPr>
              <a:t>SELECT </a:t>
            </a:r>
            <a:r>
              <a:rPr lang="fr-FR" dirty="0" err="1">
                <a:latin typeface="Consolas" panose="020B0609020204030204" pitchFamily="49" charset="0"/>
              </a:rPr>
              <a:t>comm.nom</a:t>
            </a:r>
            <a:r>
              <a:rPr lang="fr-FR" dirty="0">
                <a:latin typeface="Consolas" panose="020B0609020204030204" pitchFamily="49" charset="0"/>
              </a:rPr>
              <a:t>, </a:t>
            </a:r>
            <a:r>
              <a:rPr lang="fr-FR" dirty="0" err="1">
                <a:latin typeface="Consolas" panose="020B0609020204030204" pitchFamily="49" charset="0"/>
              </a:rPr>
              <a:t>sum</a:t>
            </a:r>
            <a:r>
              <a:rPr lang="fr-FR" dirty="0">
                <a:latin typeface="Consolas" panose="020B0609020204030204" pitchFamily="49" charset="0"/>
              </a:rPr>
              <a:t>(men) as </a:t>
            </a:r>
            <a:r>
              <a:rPr lang="fr-FR" dirty="0" err="1">
                <a:latin typeface="Consolas" panose="020B0609020204030204" pitchFamily="49" charset="0"/>
              </a:rPr>
              <a:t>nb_menages</a:t>
            </a:r>
            <a:r>
              <a:rPr lang="fr-FR" dirty="0">
                <a:latin typeface="Consolas" panose="020B0609020204030204" pitchFamily="49" charset="0"/>
              </a:rPr>
              <a:t> FROM </a:t>
            </a:r>
            <a:r>
              <a:rPr lang="fr-FR" dirty="0" err="1">
                <a:latin typeface="Consolas" panose="020B0609020204030204" pitchFamily="49" charset="0"/>
              </a:rPr>
              <a:t>communes_metrop</a:t>
            </a:r>
            <a:r>
              <a:rPr lang="fr-FR" dirty="0">
                <a:latin typeface="Consolas" panose="020B0609020204030204" pitchFamily="49" charset="0"/>
              </a:rPr>
              <a:t> </a:t>
            </a:r>
            <a:r>
              <a:rPr lang="fr-FR" dirty="0" err="1">
                <a:latin typeface="Consolas" panose="020B0609020204030204" pitchFamily="49" charset="0"/>
              </a:rPr>
              <a:t>comm</a:t>
            </a:r>
            <a:r>
              <a:rPr lang="fr-FR" dirty="0">
                <a:latin typeface="Consolas" panose="020B0609020204030204" pitchFamily="49" charset="0"/>
              </a:rPr>
              <a:t> JOIN pop_200</a:t>
            </a:r>
            <a:r>
              <a:rPr lang="fr-FR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ON 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st_intersects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(comm.geom,pop_200.geom) group by 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comm.nom</a:t>
            </a:r>
            <a:r>
              <a:rPr lang="fr-FR" dirty="0">
                <a:latin typeface="Consolas" panose="020B0609020204030204" pitchFamily="49" charset="0"/>
              </a:rPr>
              <a:t>; </a:t>
            </a:r>
          </a:p>
          <a:p>
            <a:r>
              <a:rPr lang="fr-FR" b="1" dirty="0">
                <a:latin typeface="Consolas" panose="020B0609020204030204" pitchFamily="49" charset="0"/>
                <a:sym typeface="Wingdings" panose="05000000000000000000" pitchFamily="2" charset="2"/>
              </a:rPr>
              <a:t>ne marche pas, pensez à la projection! intersection uniquement entre deux SRID identiques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60FCA61-2C99-E55C-52C9-37C7A516BC03}"/>
              </a:ext>
            </a:extLst>
          </p:cNvPr>
          <p:cNvSpPr txBox="1"/>
          <p:nvPr/>
        </p:nvSpPr>
        <p:spPr>
          <a:xfrm>
            <a:off x="523874" y="5337062"/>
            <a:ext cx="105264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Consolas" panose="020B0609020204030204" pitchFamily="49" charset="0"/>
              </a:rPr>
              <a:t>Donc...</a:t>
            </a:r>
            <a:r>
              <a:rPr lang="fr-FR" dirty="0">
                <a:latin typeface="Consolas" panose="020B0609020204030204" pitchFamily="49" charset="0"/>
              </a:rPr>
              <a:t> SELECT </a:t>
            </a:r>
            <a:r>
              <a:rPr lang="fr-FR" dirty="0" err="1">
                <a:latin typeface="Consolas" panose="020B0609020204030204" pitchFamily="49" charset="0"/>
              </a:rPr>
              <a:t>comm.nom</a:t>
            </a:r>
            <a:r>
              <a:rPr lang="fr-FR" dirty="0">
                <a:latin typeface="Consolas" panose="020B0609020204030204" pitchFamily="49" charset="0"/>
              </a:rPr>
              <a:t>, </a:t>
            </a:r>
            <a:r>
              <a:rPr lang="fr-FR" dirty="0" err="1">
                <a:latin typeface="Consolas" panose="020B0609020204030204" pitchFamily="49" charset="0"/>
              </a:rPr>
              <a:t>sum</a:t>
            </a:r>
            <a:r>
              <a:rPr lang="fr-FR" dirty="0">
                <a:latin typeface="Consolas" panose="020B0609020204030204" pitchFamily="49" charset="0"/>
              </a:rPr>
              <a:t>(men) as </a:t>
            </a:r>
            <a:r>
              <a:rPr lang="fr-FR" dirty="0" err="1">
                <a:latin typeface="Consolas" panose="020B0609020204030204" pitchFamily="49" charset="0"/>
              </a:rPr>
              <a:t>nb_menages</a:t>
            </a:r>
            <a:r>
              <a:rPr lang="fr-FR" dirty="0"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FROM 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communes_metrop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comm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join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 pop_200 ON 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st_intersects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comm.geom,</a:t>
            </a:r>
            <a:r>
              <a:rPr lang="fr-FR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st_transform</a:t>
            </a:r>
            <a:r>
              <a:rPr lang="fr-FR" b="1" dirty="0">
                <a:solidFill>
                  <a:schemeClr val="accent1"/>
                </a:solidFill>
                <a:latin typeface="Consolas" panose="020B0609020204030204" pitchFamily="49" charset="0"/>
              </a:rPr>
              <a:t>(pop_200.geom,4326)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) </a:t>
            </a:r>
            <a:r>
              <a:rPr lang="fr-FR" dirty="0">
                <a:latin typeface="Consolas" panose="020B0609020204030204" pitchFamily="49" charset="0"/>
              </a:rPr>
              <a:t>GROUP BY </a:t>
            </a:r>
            <a:r>
              <a:rPr lang="fr-FR" dirty="0" err="1">
                <a:latin typeface="Consolas" panose="020B0609020204030204" pitchFamily="49" charset="0"/>
              </a:rPr>
              <a:t>comm.nom</a:t>
            </a:r>
            <a:r>
              <a:rPr lang="fr-FR" dirty="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5913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– Requêtes imbriquées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22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09D686-8086-15BC-0F26-23010297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29" y="866775"/>
            <a:ext cx="11299371" cy="22828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0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FR" sz="2000" b="1" dirty="0">
                <a:latin typeface="+mn-lt"/>
              </a:rPr>
              <a:t>Requête imbriquée : </a:t>
            </a:r>
            <a:r>
              <a:rPr lang="fr-FR" sz="2000" dirty="0">
                <a:latin typeface="+mn-lt"/>
              </a:rPr>
              <a:t>une requête dans une autre requête. Utile pour des requêtes plus complexes : calculs, jointure entre tables, etc... </a:t>
            </a:r>
          </a:p>
          <a:p>
            <a:pPr marL="0" indent="0">
              <a:buNone/>
            </a:pPr>
            <a:r>
              <a:rPr lang="fr-FR" sz="2000" u="sng" dirty="0">
                <a:latin typeface="Consolas" panose="020B0609020204030204" pitchFamily="49" charset="0"/>
              </a:rPr>
              <a:t>Exemple</a:t>
            </a:r>
            <a:r>
              <a:rPr lang="fr-FR" sz="2000" dirty="0">
                <a:latin typeface="Consolas" panose="020B0609020204030204" pitchFamily="49" charset="0"/>
              </a:rPr>
              <a:t> SELECT * from </a:t>
            </a:r>
            <a:r>
              <a:rPr lang="fr-FR" sz="2000" dirty="0" err="1">
                <a:latin typeface="Consolas" panose="020B0609020204030204" pitchFamily="49" charset="0"/>
              </a:rPr>
              <a:t>tableA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where</a:t>
            </a:r>
            <a:r>
              <a:rPr lang="fr-FR" sz="2000" dirty="0">
                <a:latin typeface="Consolas" panose="020B0609020204030204" pitchFamily="49" charset="0"/>
              </a:rPr>
              <a:t> champ1 = (SELECT max(champ2) FROM </a:t>
            </a:r>
            <a:r>
              <a:rPr lang="fr-FR" sz="2000" dirty="0" err="1">
                <a:latin typeface="Consolas" panose="020B0609020204030204" pitchFamily="49" charset="0"/>
              </a:rPr>
              <a:t>tableB</a:t>
            </a:r>
            <a:r>
              <a:rPr lang="fr-FR" sz="20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ABEEFC9-C879-F16F-2ED1-F3CF071306F5}"/>
              </a:ext>
            </a:extLst>
          </p:cNvPr>
          <p:cNvSpPr txBox="1"/>
          <p:nvPr/>
        </p:nvSpPr>
        <p:spPr>
          <a:xfrm>
            <a:off x="696191" y="2638698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dirty="0"/>
              <a:t>Sélectionner le relevé pour lequel a été enregistré la précipitation maximale</a:t>
            </a:r>
            <a:endParaRPr lang="fr-FR" b="1" dirty="0"/>
          </a:p>
          <a:p>
            <a:endParaRPr lang="fr-FR" b="1" i="1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8856BC4-0484-218A-2CDA-736A027C3AD5}"/>
              </a:ext>
            </a:extLst>
          </p:cNvPr>
          <p:cNvSpPr txBox="1"/>
          <p:nvPr/>
        </p:nvSpPr>
        <p:spPr>
          <a:xfrm>
            <a:off x="696191" y="3687063"/>
            <a:ext cx="1079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2. Pour aller plus loin, trouver le capteur associé à ce relevé</a:t>
            </a:r>
          </a:p>
        </p:txBody>
      </p:sp>
    </p:spTree>
    <p:extLst>
      <p:ext uri="{BB962C8B-B14F-4D97-AF65-F5344CB8AC3E}">
        <p14:creationId xmlns:p14="http://schemas.microsoft.com/office/powerpoint/2010/main" val="385191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– Requêtes imbriquées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23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09D686-8086-15BC-0F26-23010297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29" y="866775"/>
            <a:ext cx="11299371" cy="22828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0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FR" sz="2000" b="1" dirty="0">
                <a:latin typeface="+mn-lt"/>
              </a:rPr>
              <a:t>Requête imbriquée : </a:t>
            </a:r>
            <a:r>
              <a:rPr lang="fr-FR" sz="2000" dirty="0">
                <a:latin typeface="+mn-lt"/>
              </a:rPr>
              <a:t>une requête dans une autre requête. Utile pour des requêtes plus complexes : calculs, jointure entre tables, etc... </a:t>
            </a:r>
          </a:p>
          <a:p>
            <a:pPr marL="0" indent="0">
              <a:buNone/>
            </a:pPr>
            <a:r>
              <a:rPr lang="fr-FR" sz="2000" u="sng" dirty="0">
                <a:latin typeface="Consolas" panose="020B0609020204030204" pitchFamily="49" charset="0"/>
              </a:rPr>
              <a:t>Exemple</a:t>
            </a:r>
            <a:r>
              <a:rPr lang="fr-FR" sz="2000" dirty="0">
                <a:latin typeface="Consolas" panose="020B0609020204030204" pitchFamily="49" charset="0"/>
              </a:rPr>
              <a:t> SELECT * from </a:t>
            </a:r>
            <a:r>
              <a:rPr lang="fr-FR" sz="2000" dirty="0" err="1">
                <a:latin typeface="Consolas" panose="020B0609020204030204" pitchFamily="49" charset="0"/>
              </a:rPr>
              <a:t>tableA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where</a:t>
            </a:r>
            <a:r>
              <a:rPr lang="fr-FR" sz="2000" dirty="0">
                <a:latin typeface="Consolas" panose="020B0609020204030204" pitchFamily="49" charset="0"/>
              </a:rPr>
              <a:t> champ1 = (SELECT max(champ2) FROM </a:t>
            </a:r>
            <a:r>
              <a:rPr lang="fr-FR" sz="2000" dirty="0" err="1">
                <a:latin typeface="Consolas" panose="020B0609020204030204" pitchFamily="49" charset="0"/>
              </a:rPr>
              <a:t>tableB</a:t>
            </a:r>
            <a:r>
              <a:rPr lang="fr-FR" sz="20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ABEEFC9-C879-F16F-2ED1-F3CF071306F5}"/>
              </a:ext>
            </a:extLst>
          </p:cNvPr>
          <p:cNvSpPr txBox="1"/>
          <p:nvPr/>
        </p:nvSpPr>
        <p:spPr>
          <a:xfrm>
            <a:off x="696191" y="2945955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dirty="0"/>
              <a:t>Sélectionner le relevé pour lequel a été enregistré la précipitation maximale</a:t>
            </a:r>
            <a:endParaRPr lang="fr-FR" b="1" dirty="0"/>
          </a:p>
          <a:p>
            <a:endParaRPr lang="fr-FR" b="1" i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6E0195A-9F33-4AB5-D2D3-917154787BDD}"/>
              </a:ext>
            </a:extLst>
          </p:cNvPr>
          <p:cNvSpPr txBox="1"/>
          <p:nvPr/>
        </p:nvSpPr>
        <p:spPr>
          <a:xfrm>
            <a:off x="696191" y="3679761"/>
            <a:ext cx="107996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SELECT * from </a:t>
            </a:r>
            <a:r>
              <a:rPr lang="en-US" dirty="0" err="1">
                <a:latin typeface="Consolas" panose="020B0609020204030204" pitchFamily="49" charset="0"/>
              </a:rPr>
              <a:t>releves</a:t>
            </a:r>
            <a:r>
              <a:rPr lang="en-US" dirty="0">
                <a:latin typeface="Consolas" panose="020B0609020204030204" pitchFamily="49" charset="0"/>
              </a:rPr>
              <a:t> WHERE precipitation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= (select max(precipitation) from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releves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b="1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... Donne le </a:t>
            </a:r>
            <a:r>
              <a:rPr lang="en-US" b="1" dirty="0" err="1">
                <a:latin typeface="Consolas" panose="020B0609020204030204" pitchFamily="49" charset="0"/>
              </a:rPr>
              <a:t>même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résultat</a:t>
            </a:r>
            <a:r>
              <a:rPr lang="en-US" b="1" dirty="0">
                <a:latin typeface="Consolas" panose="020B0609020204030204" pitchFamily="49" charset="0"/>
              </a:rPr>
              <a:t> que: </a:t>
            </a:r>
          </a:p>
          <a:p>
            <a:endParaRPr lang="en-US" b="1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SELECT * from </a:t>
            </a:r>
            <a:r>
              <a:rPr lang="en-US" dirty="0" err="1">
                <a:latin typeface="Consolas" panose="020B0609020204030204" pitchFamily="49" charset="0"/>
              </a:rPr>
              <a:t>releves</a:t>
            </a:r>
            <a:r>
              <a:rPr lang="en-US" dirty="0">
                <a:latin typeface="Consolas" panose="020B0609020204030204" pitchFamily="49" charset="0"/>
              </a:rPr>
              <a:t> ORDER BY precipitation desc LIMIT 1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;</a:t>
            </a:r>
            <a:endParaRPr lang="fr-FR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53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sélections – Requêtes imbriquées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24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09D686-8086-15BC-0F26-23010297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29" y="866775"/>
            <a:ext cx="11299371" cy="22828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0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FR" sz="2000" b="1" dirty="0">
                <a:latin typeface="+mn-lt"/>
              </a:rPr>
              <a:t>Requête imbriquée : </a:t>
            </a:r>
            <a:r>
              <a:rPr lang="fr-FR" sz="2000" dirty="0">
                <a:latin typeface="+mn-lt"/>
              </a:rPr>
              <a:t>une requête dans une autre requête. Utile pour des requêtes plus complexes : calculs, jointure entre tables, etc... </a:t>
            </a:r>
          </a:p>
          <a:p>
            <a:pPr marL="0" indent="0">
              <a:buNone/>
            </a:pPr>
            <a:r>
              <a:rPr lang="fr-FR" sz="2000" u="sng" dirty="0">
                <a:latin typeface="Consolas" panose="020B0609020204030204" pitchFamily="49" charset="0"/>
              </a:rPr>
              <a:t>Exemple</a:t>
            </a:r>
            <a:r>
              <a:rPr lang="fr-FR" sz="2000" dirty="0">
                <a:latin typeface="Consolas" panose="020B0609020204030204" pitchFamily="49" charset="0"/>
              </a:rPr>
              <a:t> SELECT * from </a:t>
            </a:r>
            <a:r>
              <a:rPr lang="fr-FR" sz="2000" dirty="0" err="1">
                <a:latin typeface="Consolas" panose="020B0609020204030204" pitchFamily="49" charset="0"/>
              </a:rPr>
              <a:t>tableA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where</a:t>
            </a:r>
            <a:r>
              <a:rPr lang="fr-FR" sz="2000" dirty="0">
                <a:latin typeface="Consolas" panose="020B0609020204030204" pitchFamily="49" charset="0"/>
              </a:rPr>
              <a:t> champ1 = (SELECT max(champ2) FROM </a:t>
            </a:r>
            <a:r>
              <a:rPr lang="fr-FR" sz="2000" dirty="0" err="1">
                <a:latin typeface="Consolas" panose="020B0609020204030204" pitchFamily="49" charset="0"/>
              </a:rPr>
              <a:t>tableB</a:t>
            </a:r>
            <a:r>
              <a:rPr lang="fr-FR" sz="20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8856BC4-0484-218A-2CDA-736A027C3AD5}"/>
              </a:ext>
            </a:extLst>
          </p:cNvPr>
          <p:cNvSpPr txBox="1"/>
          <p:nvPr/>
        </p:nvSpPr>
        <p:spPr>
          <a:xfrm>
            <a:off x="696191" y="2979992"/>
            <a:ext cx="1079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2. Pour aller plus loin, trouver le capteur associé à ce relevé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4381F0A-C1BA-9A06-A8F5-921C3AE0D4D0}"/>
              </a:ext>
            </a:extLst>
          </p:cNvPr>
          <p:cNvSpPr txBox="1"/>
          <p:nvPr/>
        </p:nvSpPr>
        <p:spPr>
          <a:xfrm>
            <a:off x="696190" y="3602380"/>
            <a:ext cx="111402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Consolas" panose="020B0609020204030204" pitchFamily="49" charset="0"/>
              </a:rPr>
              <a:t>SELECT capteurs.* , </a:t>
            </a:r>
            <a:r>
              <a:rPr lang="fr-FR" dirty="0" err="1">
                <a:latin typeface="Consolas" panose="020B0609020204030204" pitchFamily="49" charset="0"/>
              </a:rPr>
              <a:t>maxi.precipitation</a:t>
            </a:r>
            <a:r>
              <a:rPr lang="fr-FR" dirty="0">
                <a:latin typeface="Consolas" panose="020B0609020204030204" pitchFamily="49" charset="0"/>
              </a:rPr>
              <a:t> FROM capteurs INNER JOIN (</a:t>
            </a:r>
          </a:p>
          <a:p>
            <a:r>
              <a:rPr lang="fr-FR" dirty="0">
                <a:latin typeface="Consolas" panose="020B0609020204030204" pitchFamily="49" charset="0"/>
              </a:rPr>
              <a:t>	SELECT * FROM </a:t>
            </a:r>
            <a:r>
              <a:rPr lang="fr-FR" dirty="0" err="1">
                <a:latin typeface="Consolas" panose="020B0609020204030204" pitchFamily="49" charset="0"/>
              </a:rPr>
              <a:t>releves</a:t>
            </a:r>
            <a:r>
              <a:rPr lang="fr-FR" dirty="0">
                <a:latin typeface="Consolas" panose="020B0609020204030204" pitchFamily="49" charset="0"/>
              </a:rPr>
              <a:t> WHERE </a:t>
            </a:r>
            <a:r>
              <a:rPr lang="fr-FR" dirty="0" err="1">
                <a:latin typeface="Consolas" panose="020B0609020204030204" pitchFamily="49" charset="0"/>
              </a:rPr>
              <a:t>precipitation</a:t>
            </a:r>
            <a:r>
              <a:rPr lang="fr-FR" dirty="0">
                <a:latin typeface="Consolas" panose="020B0609020204030204" pitchFamily="49" charset="0"/>
              </a:rPr>
              <a:t> = (SELECT max(</a:t>
            </a:r>
            <a:r>
              <a:rPr lang="fr-FR" dirty="0" err="1">
                <a:latin typeface="Consolas" panose="020B0609020204030204" pitchFamily="49" charset="0"/>
              </a:rPr>
              <a:t>precipitation</a:t>
            </a:r>
            <a:r>
              <a:rPr lang="fr-FR" dirty="0">
                <a:latin typeface="Consolas" panose="020B0609020204030204" pitchFamily="49" charset="0"/>
              </a:rPr>
              <a:t>) FROM </a:t>
            </a:r>
            <a:r>
              <a:rPr lang="fr-FR" dirty="0" err="1">
                <a:latin typeface="Consolas" panose="020B0609020204030204" pitchFamily="49" charset="0"/>
              </a:rPr>
              <a:t>releves</a:t>
            </a:r>
            <a:r>
              <a:rPr lang="fr-FR" dirty="0">
                <a:latin typeface="Consolas" panose="020B0609020204030204" pitchFamily="49" charset="0"/>
              </a:rPr>
              <a:t>)) as maxi </a:t>
            </a:r>
          </a:p>
          <a:p>
            <a:r>
              <a:rPr lang="fr-FR" dirty="0">
                <a:latin typeface="Consolas" panose="020B0609020204030204" pitchFamily="49" charset="0"/>
              </a:rPr>
              <a:t>ON capteurs.id = </a:t>
            </a:r>
            <a:r>
              <a:rPr lang="fr-FR" dirty="0" err="1">
                <a:latin typeface="Consolas" panose="020B0609020204030204" pitchFamily="49" charset="0"/>
              </a:rPr>
              <a:t>maxi.id_capteur</a:t>
            </a:r>
            <a:r>
              <a:rPr lang="fr-FR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7B4996F-20AC-B312-3FB3-34D1F4571B27}"/>
              </a:ext>
            </a:extLst>
          </p:cNvPr>
          <p:cNvSpPr txBox="1"/>
          <p:nvPr/>
        </p:nvSpPr>
        <p:spPr>
          <a:xfrm>
            <a:off x="616608" y="4929080"/>
            <a:ext cx="112993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1" dirty="0"/>
              <a:t>Alternative, utilisation d’un WITH :</a:t>
            </a:r>
          </a:p>
          <a:p>
            <a:r>
              <a:rPr lang="fr-FR" b="1" dirty="0" err="1">
                <a:latin typeface="Consolas" panose="020B0609020204030204" pitchFamily="49" charset="0"/>
              </a:rPr>
              <a:t>with</a:t>
            </a:r>
            <a:r>
              <a:rPr lang="fr-FR" b="1" dirty="0">
                <a:latin typeface="Consolas" panose="020B0609020204030204" pitchFamily="49" charset="0"/>
              </a:rPr>
              <a:t> </a:t>
            </a:r>
            <a:r>
              <a:rPr lang="fr-FR" dirty="0">
                <a:latin typeface="Consolas" panose="020B0609020204030204" pitchFamily="49" charset="0"/>
              </a:rPr>
              <a:t>maxi as (SELECT * FROM </a:t>
            </a:r>
            <a:r>
              <a:rPr lang="fr-FR" dirty="0" err="1">
                <a:latin typeface="Consolas" panose="020B0609020204030204" pitchFamily="49" charset="0"/>
              </a:rPr>
              <a:t>releves</a:t>
            </a:r>
            <a:r>
              <a:rPr lang="fr-FR" dirty="0">
                <a:latin typeface="Consolas" panose="020B0609020204030204" pitchFamily="49" charset="0"/>
              </a:rPr>
              <a:t> WHERE </a:t>
            </a:r>
            <a:r>
              <a:rPr lang="fr-FR" dirty="0" err="1">
                <a:latin typeface="Consolas" panose="020B0609020204030204" pitchFamily="49" charset="0"/>
              </a:rPr>
              <a:t>precipitation</a:t>
            </a:r>
            <a:r>
              <a:rPr lang="fr-FR" dirty="0">
                <a:latin typeface="Consolas" panose="020B0609020204030204" pitchFamily="49" charset="0"/>
              </a:rPr>
              <a:t> = (SELECT max(</a:t>
            </a:r>
            <a:r>
              <a:rPr lang="fr-FR" dirty="0" err="1">
                <a:latin typeface="Consolas" panose="020B0609020204030204" pitchFamily="49" charset="0"/>
              </a:rPr>
              <a:t>precipitation</a:t>
            </a:r>
            <a:r>
              <a:rPr lang="fr-FR" dirty="0">
                <a:latin typeface="Consolas" panose="020B0609020204030204" pitchFamily="49" charset="0"/>
              </a:rPr>
              <a:t>) FROM </a:t>
            </a:r>
            <a:r>
              <a:rPr lang="fr-FR" dirty="0" err="1">
                <a:latin typeface="Consolas" panose="020B0609020204030204" pitchFamily="49" charset="0"/>
              </a:rPr>
              <a:t>releves</a:t>
            </a:r>
            <a:r>
              <a:rPr lang="fr-FR" dirty="0">
                <a:latin typeface="Consolas" panose="020B0609020204030204" pitchFamily="49" charset="0"/>
              </a:rPr>
              <a:t>)) </a:t>
            </a:r>
          </a:p>
          <a:p>
            <a:r>
              <a:rPr lang="fr-FR" dirty="0">
                <a:latin typeface="Consolas" panose="020B0609020204030204" pitchFamily="49" charset="0"/>
              </a:rPr>
              <a:t>SELECT capteurs.*, </a:t>
            </a:r>
            <a:r>
              <a:rPr lang="fr-FR" dirty="0" err="1">
                <a:latin typeface="Consolas" panose="020B0609020204030204" pitchFamily="49" charset="0"/>
              </a:rPr>
              <a:t>maxi.precipitation</a:t>
            </a:r>
            <a:r>
              <a:rPr lang="fr-FR" dirty="0">
                <a:latin typeface="Consolas" panose="020B0609020204030204" pitchFamily="49" charset="0"/>
              </a:rPr>
              <a:t> FROM capteurs INNER JOIN maxi ON capteurs.id = </a:t>
            </a:r>
            <a:r>
              <a:rPr lang="fr-FR" dirty="0" err="1">
                <a:latin typeface="Consolas" panose="020B0609020204030204" pitchFamily="49" charset="0"/>
              </a:rPr>
              <a:t>maxi.id_capteur</a:t>
            </a:r>
            <a:r>
              <a:rPr lang="fr-FR" dirty="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5857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CFA16849-9C77-B4DD-F3F3-A222258E0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92829"/>
            <a:ext cx="9144000" cy="2364971"/>
          </a:xfrm>
        </p:spPr>
        <p:txBody>
          <a:bodyPr/>
          <a:lstStyle/>
          <a:p>
            <a:r>
              <a:rPr lang="fr-FR" dirty="0"/>
              <a:t>II. Les requêtes d’insertion, mise à jour et suppression</a:t>
            </a:r>
          </a:p>
        </p:txBody>
      </p:sp>
    </p:spTree>
    <p:extLst>
      <p:ext uri="{BB962C8B-B14F-4D97-AF65-F5344CB8AC3E}">
        <p14:creationId xmlns:p14="http://schemas.microsoft.com/office/powerpoint/2010/main" val="1781304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d’insertion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26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09D686-8086-15BC-0F26-23010297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190" y="1412621"/>
            <a:ext cx="10998200" cy="646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INSERT INTO table1 </a:t>
            </a:r>
            <a:r>
              <a:rPr lang="fr-FR" sz="2000" b="1" dirty="0">
                <a:solidFill>
                  <a:schemeClr val="accent3"/>
                </a:solidFill>
                <a:latin typeface="+mn-lt"/>
                <a:sym typeface="Wingdings" panose="05000000000000000000" pitchFamily="2" charset="2"/>
              </a:rPr>
              <a:t>(champ1, champ2, champ3)</a:t>
            </a:r>
            <a:r>
              <a:rPr lang="fr-FR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 VALUES </a:t>
            </a:r>
            <a:r>
              <a:rPr lang="fr-FR" sz="2000" b="1" dirty="0">
                <a:solidFill>
                  <a:schemeClr val="accent3"/>
                </a:solidFill>
                <a:latin typeface="+mn-lt"/>
                <a:sym typeface="Wingdings" panose="05000000000000000000" pitchFamily="2" charset="2"/>
              </a:rPr>
              <a:t>(1, ‘a’, </a:t>
            </a:r>
            <a:r>
              <a:rPr lang="fr-FR" sz="2000" b="1" dirty="0" err="1">
                <a:solidFill>
                  <a:schemeClr val="accent3"/>
                </a:solidFill>
                <a:latin typeface="+mn-lt"/>
                <a:sym typeface="Wingdings" panose="05000000000000000000" pitchFamily="2" charset="2"/>
              </a:rPr>
              <a:t>true</a:t>
            </a:r>
            <a:r>
              <a:rPr lang="fr-FR" sz="2000" b="1" dirty="0">
                <a:solidFill>
                  <a:schemeClr val="accent3"/>
                </a:solidFill>
                <a:latin typeface="+mn-lt"/>
                <a:sym typeface="Wingdings" panose="05000000000000000000" pitchFamily="2" charset="2"/>
              </a:rPr>
              <a:t>)[,(2,’b’,false),…];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ABEEFC9-C879-F16F-2ED1-F3CF071306F5}"/>
              </a:ext>
            </a:extLst>
          </p:cNvPr>
          <p:cNvSpPr txBox="1"/>
          <p:nvPr/>
        </p:nvSpPr>
        <p:spPr>
          <a:xfrm>
            <a:off x="696191" y="2638698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dirty="0"/>
              <a:t>Insérer un nouveau capteur dans la table capteur, aux coordonnées 46.1 Nord, 4.12 Est</a:t>
            </a:r>
            <a:endParaRPr lang="fr-FR" b="1" dirty="0"/>
          </a:p>
          <a:p>
            <a:endParaRPr lang="fr-FR" b="1" i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6E0195A-9F33-4AB5-D2D3-917154787BDD}"/>
              </a:ext>
            </a:extLst>
          </p:cNvPr>
          <p:cNvSpPr txBox="1"/>
          <p:nvPr/>
        </p:nvSpPr>
        <p:spPr>
          <a:xfrm>
            <a:off x="696191" y="3062069"/>
            <a:ext cx="102507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INSERT INTO </a:t>
            </a:r>
            <a:r>
              <a:rPr lang="en-US" dirty="0" err="1">
                <a:latin typeface="Consolas" panose="020B0609020204030204" pitchFamily="49" charset="0"/>
              </a:rPr>
              <a:t>capteurs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(nom, 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adresse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x,y,geom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VALUES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('new_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capteur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','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adresse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 inconnue',4.12,46.1, </a:t>
            </a:r>
            <a:r>
              <a:rPr lang="en-US" dirty="0" err="1">
                <a:solidFill>
                  <a:schemeClr val="accent3"/>
                </a:solidFill>
                <a:latin typeface="Consolas" panose="020B0609020204030204" pitchFamily="49" charset="0"/>
              </a:rPr>
              <a:t>ST_GeomFromText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('point(4.12 46.1)',4326))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fr-FR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8856BC4-0484-218A-2CDA-736A027C3AD5}"/>
              </a:ext>
            </a:extLst>
          </p:cNvPr>
          <p:cNvSpPr txBox="1"/>
          <p:nvPr/>
        </p:nvSpPr>
        <p:spPr>
          <a:xfrm>
            <a:off x="696190" y="4289406"/>
            <a:ext cx="107996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Pour insérer une nouvelle géométrie, plusieurs possibilités:</a:t>
            </a:r>
          </a:p>
          <a:p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ST_geomFromText</a:t>
            </a:r>
            <a:r>
              <a:rPr lang="fr-FR" dirty="0"/>
              <a:t>(‘POINT(</a:t>
            </a:r>
            <a:r>
              <a:rPr lang="fr-FR" dirty="0" err="1"/>
              <a:t>lon</a:t>
            </a:r>
            <a:r>
              <a:rPr lang="fr-FR" dirty="0"/>
              <a:t> </a:t>
            </a:r>
            <a:r>
              <a:rPr lang="fr-FR" dirty="0" err="1"/>
              <a:t>lat</a:t>
            </a:r>
            <a:r>
              <a:rPr lang="fr-FR" dirty="0"/>
              <a:t>)’,EPSG) </a:t>
            </a:r>
            <a:r>
              <a:rPr lang="fr-FR" dirty="0">
                <a:sym typeface="Wingdings" panose="05000000000000000000" pitchFamily="2" charset="2"/>
              </a:rPr>
              <a:t> implique du texte (ex ‘POINT(4.5 12.54)’)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ST_SetSRID</a:t>
            </a:r>
            <a:r>
              <a:rPr lang="fr-FR" dirty="0"/>
              <a:t>(</a:t>
            </a:r>
            <a:r>
              <a:rPr lang="fr-FR" dirty="0" err="1"/>
              <a:t>ST_makePoint</a:t>
            </a:r>
            <a:r>
              <a:rPr lang="fr-FR" dirty="0"/>
              <a:t>(</a:t>
            </a:r>
            <a:r>
              <a:rPr lang="fr-FR" dirty="0" err="1"/>
              <a:t>lon,lat</a:t>
            </a:r>
            <a:r>
              <a:rPr lang="fr-FR" dirty="0"/>
              <a:t>),EPSG) </a:t>
            </a:r>
            <a:r>
              <a:rPr lang="fr-FR" dirty="0">
                <a:sym typeface="Wingdings" panose="05000000000000000000" pitchFamily="2" charset="2"/>
              </a:rPr>
              <a:t> n’implique pas de texte</a:t>
            </a:r>
          </a:p>
          <a:p>
            <a:endParaRPr lang="fr-FR" dirty="0">
              <a:sym typeface="Wingdings" panose="05000000000000000000" pitchFamily="2" charset="2"/>
            </a:endParaRPr>
          </a:p>
          <a:p>
            <a:r>
              <a:rPr lang="fr-FR" dirty="0">
                <a:sym typeface="Wingdings" panose="05000000000000000000" pitchFamily="2" charset="2"/>
              </a:rPr>
              <a:t>Exemples d’EPSG : 2154, 4326…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7820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mise à jour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27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09D686-8086-15BC-0F26-23010297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190" y="1412621"/>
            <a:ext cx="10998200" cy="646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UPDATE table1 SET </a:t>
            </a:r>
            <a:r>
              <a:rPr lang="fr-FR" sz="2000" b="1" dirty="0">
                <a:solidFill>
                  <a:schemeClr val="accent3"/>
                </a:solidFill>
                <a:latin typeface="+mn-lt"/>
                <a:sym typeface="Wingdings" panose="05000000000000000000" pitchFamily="2" charset="2"/>
              </a:rPr>
              <a:t>champ1</a:t>
            </a:r>
            <a:r>
              <a:rPr lang="fr-FR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 </a:t>
            </a:r>
            <a:r>
              <a:rPr lang="fr-FR" sz="2000" b="1" dirty="0">
                <a:solidFill>
                  <a:schemeClr val="accent3"/>
                </a:solidFill>
                <a:latin typeface="+mn-lt"/>
                <a:sym typeface="Wingdings" panose="05000000000000000000" pitchFamily="2" charset="2"/>
              </a:rPr>
              <a:t>= valeur </a:t>
            </a:r>
            <a:r>
              <a:rPr lang="fr-FR" sz="2000" b="1" dirty="0">
                <a:solidFill>
                  <a:schemeClr val="accent1"/>
                </a:solidFill>
                <a:latin typeface="+mn-lt"/>
                <a:sym typeface="Wingdings" panose="05000000000000000000" pitchFamily="2" charset="2"/>
              </a:rPr>
              <a:t>WHERE condition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ABEEFC9-C879-F16F-2ED1-F3CF071306F5}"/>
              </a:ext>
            </a:extLst>
          </p:cNvPr>
          <p:cNvSpPr txBox="1"/>
          <p:nvPr/>
        </p:nvSpPr>
        <p:spPr>
          <a:xfrm>
            <a:off x="696191" y="2072643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dirty="0"/>
              <a:t>Affecter ‘UNK’ aux trigrammes des communes de la métropole qui ne sont pas définis.</a:t>
            </a:r>
            <a:endParaRPr lang="fr-FR" b="1" dirty="0"/>
          </a:p>
          <a:p>
            <a:endParaRPr lang="fr-FR" b="1" i="1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8856BC4-0484-218A-2CDA-736A027C3AD5}"/>
              </a:ext>
            </a:extLst>
          </p:cNvPr>
          <p:cNvSpPr txBox="1"/>
          <p:nvPr/>
        </p:nvSpPr>
        <p:spPr>
          <a:xfrm>
            <a:off x="696190" y="4847744"/>
            <a:ext cx="1079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Pour aller plus loin, augmenter de 10 les précipitations associées au capteur « Bron »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0C51213-2668-7646-17A2-AE7DC58B660D}"/>
              </a:ext>
            </a:extLst>
          </p:cNvPr>
          <p:cNvSpPr txBox="1"/>
          <p:nvPr/>
        </p:nvSpPr>
        <p:spPr>
          <a:xfrm>
            <a:off x="696190" y="3111789"/>
            <a:ext cx="10799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2. Changer la projection des géométries de la table pop_200, passer en WGS 84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ST_srid</a:t>
            </a:r>
            <a:r>
              <a:rPr lang="fr-FR" b="1" dirty="0"/>
              <a:t>(</a:t>
            </a:r>
            <a:r>
              <a:rPr lang="fr-FR" b="1" dirty="0" err="1"/>
              <a:t>geom</a:t>
            </a:r>
            <a:r>
              <a:rPr lang="fr-FR" b="1" dirty="0"/>
              <a:t>) </a:t>
            </a:r>
            <a:r>
              <a:rPr lang="fr-FR" dirty="0"/>
              <a:t>pour connaître la projection actuelle</a:t>
            </a:r>
            <a:endParaRPr lang="fr-FR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ST_transform</a:t>
            </a:r>
            <a:r>
              <a:rPr lang="fr-FR" b="1" dirty="0"/>
              <a:t>(</a:t>
            </a:r>
            <a:r>
              <a:rPr lang="fr-FR" b="1" dirty="0" err="1"/>
              <a:t>geom,EPSG</a:t>
            </a:r>
            <a:r>
              <a:rPr lang="fr-FR" b="1" dirty="0"/>
              <a:t>) </a:t>
            </a:r>
            <a:r>
              <a:rPr lang="fr-FR" dirty="0"/>
              <a:t>pour reprojeter avec un nouvel EPSG (WGS 84 = 4326)</a:t>
            </a:r>
          </a:p>
        </p:txBody>
      </p:sp>
    </p:spTree>
    <p:extLst>
      <p:ext uri="{BB962C8B-B14F-4D97-AF65-F5344CB8AC3E}">
        <p14:creationId xmlns:p14="http://schemas.microsoft.com/office/powerpoint/2010/main" val="50908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mise à jour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28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09D686-8086-15BC-0F26-23010297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190" y="1412621"/>
            <a:ext cx="10998200" cy="646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UPDATE table1 SET </a:t>
            </a:r>
            <a:r>
              <a:rPr lang="fr-FR" sz="2000" b="1" dirty="0">
                <a:solidFill>
                  <a:schemeClr val="accent3"/>
                </a:solidFill>
                <a:latin typeface="+mn-lt"/>
                <a:sym typeface="Wingdings" panose="05000000000000000000" pitchFamily="2" charset="2"/>
              </a:rPr>
              <a:t>champ1</a:t>
            </a:r>
            <a:r>
              <a:rPr lang="fr-FR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 </a:t>
            </a:r>
            <a:r>
              <a:rPr lang="fr-FR" sz="2000" b="1" dirty="0">
                <a:solidFill>
                  <a:schemeClr val="accent3"/>
                </a:solidFill>
                <a:latin typeface="+mn-lt"/>
                <a:sym typeface="Wingdings" panose="05000000000000000000" pitchFamily="2" charset="2"/>
              </a:rPr>
              <a:t>= valeur </a:t>
            </a:r>
            <a:r>
              <a:rPr lang="fr-FR" sz="2000" b="1" dirty="0">
                <a:solidFill>
                  <a:schemeClr val="accent1"/>
                </a:solidFill>
                <a:latin typeface="+mn-lt"/>
                <a:sym typeface="Wingdings" panose="05000000000000000000" pitchFamily="2" charset="2"/>
              </a:rPr>
              <a:t>WHERE condition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ABEEFC9-C879-F16F-2ED1-F3CF071306F5}"/>
              </a:ext>
            </a:extLst>
          </p:cNvPr>
          <p:cNvSpPr txBox="1"/>
          <p:nvPr/>
        </p:nvSpPr>
        <p:spPr>
          <a:xfrm>
            <a:off x="696191" y="2072643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dirty="0"/>
              <a:t>Affecter ‘UNK’ aux trigrammes des communes de la métropole qui ne sont pas définis.</a:t>
            </a:r>
            <a:endParaRPr lang="fr-FR" b="1" dirty="0"/>
          </a:p>
          <a:p>
            <a:endParaRPr lang="fr-FR" b="1" i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6E0195A-9F33-4AB5-D2D3-917154787BDD}"/>
              </a:ext>
            </a:extLst>
          </p:cNvPr>
          <p:cNvSpPr txBox="1"/>
          <p:nvPr/>
        </p:nvSpPr>
        <p:spPr>
          <a:xfrm>
            <a:off x="696190" y="3059668"/>
            <a:ext cx="10250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UPDATE 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communes_metrop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 SET trigramme = ‘UNK’ WHERE trigramme 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is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null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2406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mise à jour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29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09D686-8086-15BC-0F26-23010297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190" y="1412621"/>
            <a:ext cx="10998200" cy="646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UPDATE table1 SET </a:t>
            </a:r>
            <a:r>
              <a:rPr lang="fr-FR" sz="2000" b="1" dirty="0">
                <a:solidFill>
                  <a:schemeClr val="accent3"/>
                </a:solidFill>
                <a:latin typeface="+mn-lt"/>
                <a:sym typeface="Wingdings" panose="05000000000000000000" pitchFamily="2" charset="2"/>
              </a:rPr>
              <a:t>champ1</a:t>
            </a:r>
            <a:r>
              <a:rPr lang="fr-FR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 </a:t>
            </a:r>
            <a:r>
              <a:rPr lang="fr-FR" sz="2000" b="1" dirty="0">
                <a:solidFill>
                  <a:schemeClr val="accent3"/>
                </a:solidFill>
                <a:latin typeface="+mn-lt"/>
                <a:sym typeface="Wingdings" panose="05000000000000000000" pitchFamily="2" charset="2"/>
              </a:rPr>
              <a:t>= valeur </a:t>
            </a:r>
            <a:r>
              <a:rPr lang="fr-FR" sz="2000" b="1" dirty="0">
                <a:solidFill>
                  <a:schemeClr val="accent1"/>
                </a:solidFill>
                <a:latin typeface="+mn-lt"/>
                <a:sym typeface="Wingdings" panose="05000000000000000000" pitchFamily="2" charset="2"/>
              </a:rPr>
              <a:t>WHERE condition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0C51213-2668-7646-17A2-AE7DC58B660D}"/>
              </a:ext>
            </a:extLst>
          </p:cNvPr>
          <p:cNvSpPr txBox="1"/>
          <p:nvPr/>
        </p:nvSpPr>
        <p:spPr>
          <a:xfrm>
            <a:off x="696188" y="2505670"/>
            <a:ext cx="10799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2. Changer la projection des géométries de la table pop_200, passer en WGS 84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ST_srid</a:t>
            </a:r>
            <a:r>
              <a:rPr lang="fr-FR" b="1" dirty="0"/>
              <a:t>(</a:t>
            </a:r>
            <a:r>
              <a:rPr lang="fr-FR" b="1" dirty="0" err="1"/>
              <a:t>geom</a:t>
            </a:r>
            <a:r>
              <a:rPr lang="fr-FR" b="1" dirty="0"/>
              <a:t>) </a:t>
            </a:r>
            <a:r>
              <a:rPr lang="fr-FR" dirty="0"/>
              <a:t>pour connaître la projection actuelle</a:t>
            </a:r>
            <a:endParaRPr lang="fr-FR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ST_transform</a:t>
            </a:r>
            <a:r>
              <a:rPr lang="fr-FR" b="1" dirty="0"/>
              <a:t>(</a:t>
            </a:r>
            <a:r>
              <a:rPr lang="fr-FR" b="1" dirty="0" err="1"/>
              <a:t>geom,EPSG</a:t>
            </a:r>
            <a:r>
              <a:rPr lang="fr-FR" b="1" dirty="0"/>
              <a:t>) </a:t>
            </a:r>
            <a:r>
              <a:rPr lang="fr-FR" dirty="0"/>
              <a:t>pour reprojeter avec un nouvel EPSG (WGS 84 = 4326)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98049AF-2031-C85B-C2D5-0FBDC9EAC362}"/>
              </a:ext>
            </a:extLst>
          </p:cNvPr>
          <p:cNvSpPr txBox="1"/>
          <p:nvPr/>
        </p:nvSpPr>
        <p:spPr>
          <a:xfrm>
            <a:off x="1069933" y="3888053"/>
            <a:ext cx="10250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UPDATE pop_200 SET 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geom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st_transform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(geom,4326);</a:t>
            </a:r>
          </a:p>
        </p:txBody>
      </p:sp>
    </p:spTree>
    <p:extLst>
      <p:ext uri="{BB962C8B-B14F-4D97-AF65-F5344CB8AC3E}">
        <p14:creationId xmlns:p14="http://schemas.microsoft.com/office/powerpoint/2010/main" val="334773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mise à jour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30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09D686-8086-15BC-0F26-23010297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190" y="1412621"/>
            <a:ext cx="10998200" cy="646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UPDATE table1 SET </a:t>
            </a:r>
            <a:r>
              <a:rPr lang="fr-FR" sz="2000" b="1" dirty="0">
                <a:solidFill>
                  <a:schemeClr val="accent3"/>
                </a:solidFill>
                <a:latin typeface="+mn-lt"/>
                <a:sym typeface="Wingdings" panose="05000000000000000000" pitchFamily="2" charset="2"/>
              </a:rPr>
              <a:t>champ1</a:t>
            </a:r>
            <a:r>
              <a:rPr lang="fr-FR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 </a:t>
            </a:r>
            <a:r>
              <a:rPr lang="fr-FR" sz="2000" b="1" dirty="0">
                <a:solidFill>
                  <a:schemeClr val="accent3"/>
                </a:solidFill>
                <a:latin typeface="+mn-lt"/>
                <a:sym typeface="Wingdings" panose="05000000000000000000" pitchFamily="2" charset="2"/>
              </a:rPr>
              <a:t>= valeur </a:t>
            </a:r>
            <a:r>
              <a:rPr lang="fr-FR" sz="2000" b="1" dirty="0">
                <a:solidFill>
                  <a:schemeClr val="accent1"/>
                </a:solidFill>
                <a:latin typeface="+mn-lt"/>
                <a:sym typeface="Wingdings" panose="05000000000000000000" pitchFamily="2" charset="2"/>
              </a:rPr>
              <a:t>WHERE condition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8856BC4-0484-218A-2CDA-736A027C3AD5}"/>
              </a:ext>
            </a:extLst>
          </p:cNvPr>
          <p:cNvSpPr txBox="1"/>
          <p:nvPr/>
        </p:nvSpPr>
        <p:spPr>
          <a:xfrm>
            <a:off x="696192" y="3059668"/>
            <a:ext cx="1079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Pour aller plus loin, augmenter de 10 les précipitations associées au capteur « Bron »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0CE3C65-8F1B-4086-35A9-3D5B7C0DBDCD}"/>
              </a:ext>
            </a:extLst>
          </p:cNvPr>
          <p:cNvSpPr txBox="1"/>
          <p:nvPr/>
        </p:nvSpPr>
        <p:spPr>
          <a:xfrm>
            <a:off x="696190" y="3604790"/>
            <a:ext cx="91590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UPDATE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releves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SET</a:t>
            </a:r>
            <a:r>
              <a:rPr lang="en-US" b="1" dirty="0">
                <a:latin typeface="Consolas" panose="020B0609020204030204" pitchFamily="49" charset="0"/>
              </a:rPr>
              <a:t> precipitation = precipitation+10 </a:t>
            </a:r>
          </a:p>
          <a:p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WHERE 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id_capteur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 = (SELECT id from 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capteurs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 WHERE nom = '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Bron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');</a:t>
            </a:r>
            <a:endParaRPr lang="fr-FR" b="1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83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suppression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31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09D686-8086-15BC-0F26-23010297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190" y="1412621"/>
            <a:ext cx="10998200" cy="646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DELETE FROM table1 </a:t>
            </a:r>
            <a:r>
              <a:rPr lang="fr-FR" sz="2000" b="1" dirty="0">
                <a:solidFill>
                  <a:schemeClr val="accent1"/>
                </a:solidFill>
                <a:latin typeface="+mn-lt"/>
                <a:sym typeface="Wingdings" panose="05000000000000000000" pitchFamily="2" charset="2"/>
              </a:rPr>
              <a:t>WHERE condition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ABEEFC9-C879-F16F-2ED1-F3CF071306F5}"/>
              </a:ext>
            </a:extLst>
          </p:cNvPr>
          <p:cNvSpPr txBox="1"/>
          <p:nvPr/>
        </p:nvSpPr>
        <p:spPr>
          <a:xfrm>
            <a:off x="696191" y="2191388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dirty="0"/>
              <a:t>Supprimer les capteurs situés dans la ville de Lyon.</a:t>
            </a:r>
            <a:endParaRPr lang="fr-FR" b="1" dirty="0"/>
          </a:p>
          <a:p>
            <a:endParaRPr lang="fr-FR" b="1" i="1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8856BC4-0484-218A-2CDA-736A027C3AD5}"/>
              </a:ext>
            </a:extLst>
          </p:cNvPr>
          <p:cNvSpPr txBox="1"/>
          <p:nvPr/>
        </p:nvSpPr>
        <p:spPr>
          <a:xfrm>
            <a:off x="696190" y="3648400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2. Approche difficile : supprimer les capteurs localisés (se baser sur la géométrie) sur la commune de Bron</a:t>
            </a:r>
          </a:p>
        </p:txBody>
      </p:sp>
    </p:spTree>
    <p:extLst>
      <p:ext uri="{BB962C8B-B14F-4D97-AF65-F5344CB8AC3E}">
        <p14:creationId xmlns:p14="http://schemas.microsoft.com/office/powerpoint/2010/main" val="329889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suppression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32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09D686-8086-15BC-0F26-23010297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190" y="1412621"/>
            <a:ext cx="10998200" cy="646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DELETE FROM table1 </a:t>
            </a:r>
            <a:r>
              <a:rPr lang="fr-FR" sz="2000" b="1" dirty="0">
                <a:solidFill>
                  <a:schemeClr val="accent1"/>
                </a:solidFill>
                <a:latin typeface="+mn-lt"/>
                <a:sym typeface="Wingdings" panose="05000000000000000000" pitchFamily="2" charset="2"/>
              </a:rPr>
              <a:t>WHERE condition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ABEEFC9-C879-F16F-2ED1-F3CF071306F5}"/>
              </a:ext>
            </a:extLst>
          </p:cNvPr>
          <p:cNvSpPr txBox="1"/>
          <p:nvPr/>
        </p:nvSpPr>
        <p:spPr>
          <a:xfrm>
            <a:off x="696191" y="2191388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dirty="0"/>
              <a:t>Supprimer les capteurs situés dans la ville de Lyon.</a:t>
            </a:r>
            <a:endParaRPr lang="fr-FR" b="1" dirty="0"/>
          </a:p>
          <a:p>
            <a:endParaRPr lang="fr-FR" b="1" i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6E0195A-9F33-4AB5-D2D3-917154787BDD}"/>
              </a:ext>
            </a:extLst>
          </p:cNvPr>
          <p:cNvSpPr txBox="1"/>
          <p:nvPr/>
        </p:nvSpPr>
        <p:spPr>
          <a:xfrm>
            <a:off x="696190" y="2670059"/>
            <a:ext cx="10250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Consolas" panose="020B0609020204030204" pitchFamily="49" charset="0"/>
              </a:rPr>
              <a:t>DELETE from capteurs 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WHERE adresse like ‘%LYON%’;</a:t>
            </a:r>
          </a:p>
        </p:txBody>
      </p:sp>
    </p:spTree>
    <p:extLst>
      <p:ext uri="{BB962C8B-B14F-4D97-AF65-F5344CB8AC3E}">
        <p14:creationId xmlns:p14="http://schemas.microsoft.com/office/powerpoint/2010/main" val="160643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3800-CBD7-1CDE-DCDE-9D5291CE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requêtes de suppression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4E5AB-5D34-C29A-7392-59858667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Remise à niveau SQL M2 GéoNum – Bastien CAHIER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89074-B84B-F35C-101B-154E9EF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33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09D686-8086-15BC-0F26-23010297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190" y="1412621"/>
            <a:ext cx="10998200" cy="646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DELETE FROM table1 </a:t>
            </a:r>
            <a:r>
              <a:rPr lang="fr-FR" sz="2000" b="1" dirty="0">
                <a:solidFill>
                  <a:schemeClr val="accent1"/>
                </a:solidFill>
                <a:latin typeface="+mn-lt"/>
                <a:sym typeface="Wingdings" panose="05000000000000000000" pitchFamily="2" charset="2"/>
              </a:rPr>
              <a:t>WHERE condition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8856BC4-0484-218A-2CDA-736A027C3AD5}"/>
              </a:ext>
            </a:extLst>
          </p:cNvPr>
          <p:cNvSpPr txBox="1"/>
          <p:nvPr/>
        </p:nvSpPr>
        <p:spPr>
          <a:xfrm>
            <a:off x="696190" y="2763028"/>
            <a:ext cx="1079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2. Approche difficile : supprimer les capteurs localisés (se baser sur la géométrie) sur la commune de Bron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22DE330-E35F-516E-C049-A29051D57E78}"/>
              </a:ext>
            </a:extLst>
          </p:cNvPr>
          <p:cNvSpPr txBox="1"/>
          <p:nvPr/>
        </p:nvSpPr>
        <p:spPr>
          <a:xfrm>
            <a:off x="696190" y="3743467"/>
            <a:ext cx="107996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Consolas" panose="020B0609020204030204" pitchFamily="49" charset="0"/>
              </a:rPr>
              <a:t>DELETE FROM capteurs 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WHERE id IN (</a:t>
            </a:r>
          </a:p>
          <a:p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	SELECT capteurs.id FROM capteurs </a:t>
            </a:r>
          </a:p>
          <a:p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	INNER JOIN 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communes_metrop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 ON 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st_contains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communes_metrop.geom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, 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capteurs.geom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) 	WHERE </a:t>
            </a:r>
            <a:r>
              <a:rPr lang="fr-FR" dirty="0" err="1">
                <a:solidFill>
                  <a:schemeClr val="accent1"/>
                </a:solidFill>
                <a:latin typeface="Consolas" panose="020B0609020204030204" pitchFamily="49" charset="0"/>
              </a:rPr>
              <a:t>communes_metrop.nom</a:t>
            </a:r>
            <a:r>
              <a:rPr lang="fr-FR" dirty="0">
                <a:solidFill>
                  <a:schemeClr val="accent1"/>
                </a:solidFill>
                <a:latin typeface="Consolas" panose="020B0609020204030204" pitchFamily="49" charset="0"/>
              </a:rPr>
              <a:t> = 'BRON');</a:t>
            </a:r>
          </a:p>
        </p:txBody>
      </p:sp>
    </p:spTree>
    <p:extLst>
      <p:ext uri="{BB962C8B-B14F-4D97-AF65-F5344CB8AC3E}">
        <p14:creationId xmlns:p14="http://schemas.microsoft.com/office/powerpoint/2010/main" val="112732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823D37F1-F02D-BC45-7781-0208F2AB3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031477"/>
          </a:xfrm>
        </p:spPr>
        <p:txBody>
          <a:bodyPr>
            <a:normAutofit/>
          </a:bodyPr>
          <a:lstStyle/>
          <a:p>
            <a:r>
              <a:rPr lang="fr-FR" sz="2900" b="1" dirty="0"/>
              <a:t>Merci de votre attention</a:t>
            </a:r>
          </a:p>
          <a:p>
            <a:endParaRPr lang="fr-FR" sz="2900" b="1" dirty="0"/>
          </a:p>
          <a:p>
            <a:r>
              <a:rPr lang="fr-FR" sz="2900" b="1" dirty="0"/>
              <a:t>Questions ? </a:t>
            </a:r>
          </a:p>
          <a:p>
            <a:pPr algn="ctr"/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E2B2C03-D6F1-4950-6836-FC9CCDAD4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114" y="907128"/>
            <a:ext cx="2880356" cy="1855122"/>
          </a:xfrm>
          <a:prstGeom prst="rect">
            <a:avLst/>
          </a:prstGeom>
        </p:spPr>
      </p:pic>
      <p:pic>
        <p:nvPicPr>
          <p:cNvPr id="5" name="Image 4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428FCFA2-E9B6-EEEE-7869-347943E065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75" y="1232677"/>
            <a:ext cx="2180393" cy="1214214"/>
          </a:xfrm>
          <a:prstGeom prst="rect">
            <a:avLst/>
          </a:prstGeom>
        </p:spPr>
      </p:pic>
      <p:pic>
        <p:nvPicPr>
          <p:cNvPr id="7" name="Image 6" descr="Une image contenant texte, Graphique, Police, logo&#10;&#10;Description générée automatiquement">
            <a:extLst>
              <a:ext uri="{FF2B5EF4-FFF2-40B4-BE49-F238E27FC236}">
                <a16:creationId xmlns:a16="http://schemas.microsoft.com/office/drawing/2014/main" id="{586FBE0E-4C30-F6C2-2066-D8E5350EFB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883" y="1232677"/>
            <a:ext cx="1218934" cy="121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42985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2943</TotalTime>
  <Words>3303</Words>
  <Application>Microsoft Office PowerPoint</Application>
  <PresentationFormat>Grand écran</PresentationFormat>
  <Paragraphs>301</Paragraphs>
  <Slides>34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9" baseType="lpstr">
      <vt:lpstr>Aptos</vt:lpstr>
      <vt:lpstr>Arial</vt:lpstr>
      <vt:lpstr>Consolas</vt:lpstr>
      <vt:lpstr>Wingdings</vt:lpstr>
      <vt:lpstr>Thème Office</vt:lpstr>
      <vt:lpstr>Présentation PowerPoint</vt:lpstr>
      <vt:lpstr>Programme</vt:lpstr>
      <vt:lpstr>Jeu de données à utiliser</vt:lpstr>
      <vt:lpstr>Jeu de données à utiliser</vt:lpstr>
      <vt:lpstr>Présentation PowerPoint</vt:lpstr>
      <vt:lpstr>Les requêtes de sélections - basique</vt:lpstr>
      <vt:lpstr>Les requêtes de sélections - basique</vt:lpstr>
      <vt:lpstr>Les requêtes de sélections - basique</vt:lpstr>
      <vt:lpstr>Les requêtes de sélections - basique</vt:lpstr>
      <vt:lpstr>Les requêtes de sélections - agrégats</vt:lpstr>
      <vt:lpstr>Les requêtes de sélections - agrégats</vt:lpstr>
      <vt:lpstr>Les requêtes de sélections - agrégats</vt:lpstr>
      <vt:lpstr>Les requêtes de sélections – Jointures attributaires - exemples</vt:lpstr>
      <vt:lpstr>Les requêtes de sélections – Jointures attributaires - exemples</vt:lpstr>
      <vt:lpstr>Les requêtes de sélections – jointures attributaires</vt:lpstr>
      <vt:lpstr>Les requêtes de sélections – jointures attributaires</vt:lpstr>
      <vt:lpstr>Les requêtes de sélections – jointures attributaires</vt:lpstr>
      <vt:lpstr>Les requêtes de sélections – jointures attributaires</vt:lpstr>
      <vt:lpstr>Les requêtes de sélections – jointures spatiales</vt:lpstr>
      <vt:lpstr>Les requêtes de sélections – jointures spatiales</vt:lpstr>
      <vt:lpstr>Les requêtes de sélections – jointures spatiales</vt:lpstr>
      <vt:lpstr>Les requêtes de sélections – Requêtes imbriquées</vt:lpstr>
      <vt:lpstr>Les requêtes de sélections – Requêtes imbriquées</vt:lpstr>
      <vt:lpstr>Les requêtes de sélections – Requêtes imbriquées</vt:lpstr>
      <vt:lpstr>Présentation PowerPoint</vt:lpstr>
      <vt:lpstr>Les requêtes d’insertion</vt:lpstr>
      <vt:lpstr>Les requêtes de mise à jour</vt:lpstr>
      <vt:lpstr>Les requêtes de mise à jour</vt:lpstr>
      <vt:lpstr>Les requêtes de mise à jour</vt:lpstr>
      <vt:lpstr>Les requêtes de mise à jour</vt:lpstr>
      <vt:lpstr>Les requêtes de suppression</vt:lpstr>
      <vt:lpstr>Les requêtes de suppression</vt:lpstr>
      <vt:lpstr>Les requêtes de suppression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Bastien Cahier</dc:creator>
  <cp:lastModifiedBy>Bastien CAHIER</cp:lastModifiedBy>
  <cp:revision>160</cp:revision>
  <cp:lastPrinted>2026-09-22T15:53:47Z</cp:lastPrinted>
  <dcterms:created xsi:type="dcterms:W3CDTF">2024-08-27T07:57:23Z</dcterms:created>
  <dcterms:modified xsi:type="dcterms:W3CDTF">2026-09-22T15:54:06Z</dcterms:modified>
</cp:coreProperties>
</file>